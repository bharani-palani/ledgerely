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65" r:id="rId2"/>
    <p:sldId id="256" r:id="rId3"/>
    <p:sldId id="266" r:id="rId4"/>
    <p:sldId id="267" r:id="rId5"/>
    <p:sldId id="258" r:id="rId6"/>
    <p:sldId id="259" r:id="rId7"/>
    <p:sldId id="260" r:id="rId8"/>
    <p:sldId id="261" r:id="rId9"/>
    <p:sldId id="268" r:id="rId10"/>
    <p:sldId id="263" r:id="rId11"/>
    <p:sldId id="264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2D82E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347"/>
    <p:restoredTop sz="69102"/>
  </p:normalViewPr>
  <p:slideViewPr>
    <p:cSldViewPr snapToGrid="0">
      <p:cViewPr varScale="1">
        <p:scale>
          <a:sx n="99" d="100"/>
          <a:sy n="99" d="100"/>
        </p:scale>
        <p:origin x="2392" y="17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D7AAFBB-AF41-154A-B3B9-CEE10C7BD486}" type="datetimeFigureOut">
              <a:rPr lang="en-US" smtClean="0"/>
              <a:t>7/20/26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26BA13-E548-B743-9623-EB12637D54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0047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Hello everyone!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Welcome to the Ledgerely Tutor Guide Series.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I'm Bharani, and in this series, I'll help you master Ledgerely, 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 AI-powered financial planning application designed to simplify the way you manage your money.</a:t>
            </a:r>
          </a:p>
          <a:p>
            <a:endParaRPr lang="en-US" dirty="0"/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 is Ledgerely?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Have you ever wondered,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Where did all your salary go this month?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How much you are spending on credit cards or bank accounts?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Are you really saving enough for your future?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Ledgerely answers all of these questions in one intelligent platform.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 helps you manage your bank accounts, credit cards, income, expenses, investments, budgets, and financial goals—all in one place.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26BA13-E548-B743-9623-EB12637D54D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8770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Why Ledgerely?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Ledgerely is designed to help you to: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Know where every penny goes.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Build better budgets.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Track your investments.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Manage loans and EMIs.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Make smarter financial decisions.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Plan confidently for your future.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Whether you're a student, working professional, freelancer, or family, Ledgerely adapts to your financial journey.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Why is it Important?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With Ledgerely, you gain: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Complete visibility into your finances.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Goal-based financial planning.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Cash flow analysis.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Powerful financial reports.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personalized dashboard.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Secure access to your financial information across devices.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Built with Modern Technology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Features:</a:t>
            </a:r>
          </a:p>
          <a:p>
            <a:endParaRPr lang="en-US" dirty="0"/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Ledgerely is a modern Progressive Web App.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So, you can: 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Browse it like a native app, not a web portal.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Use it securely over HTTPS.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Continue working even with limited internet.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Enjoy fast loading with cached data.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Automatically receive application updates.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means your financial information is always available when you need it.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Its that smarter to track money.</a:t>
            </a:r>
          </a:p>
          <a:p>
            <a:endParaRPr lang="en-US" dirty="0"/>
          </a:p>
          <a:p>
            <a:r>
              <a:rPr lang="en-US" dirty="0"/>
              <a:t>Connect single or multiple accounts.</a:t>
            </a:r>
          </a:p>
          <a:p>
            <a:r>
              <a:rPr lang="en-US" dirty="0"/>
              <a:t>Use your email to select from multiple accounts, which we will be discussing shortly, in our coming videos.</a:t>
            </a:r>
          </a:p>
          <a:p>
            <a:endParaRPr lang="en-US" dirty="0"/>
          </a:p>
          <a:p>
            <a:r>
              <a:rPr lang="en-US" dirty="0"/>
              <a:t>Make transactions readable by AI to match cases and spells.</a:t>
            </a:r>
          </a:p>
          <a:p>
            <a:r>
              <a:rPr lang="en-US" dirty="0"/>
              <a:t>Ledgerely uses smart AI systems to convert text or voice to data query.</a:t>
            </a:r>
          </a:p>
          <a:p>
            <a:endParaRPr lang="en-US" dirty="0"/>
          </a:p>
          <a:p>
            <a:r>
              <a:rPr lang="en-US" dirty="0"/>
              <a:t>Once you are comfortable and set with accounts and transactions, set your plans and goals.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Setting up accounts: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the upcoming tutorials, I'll guide you through: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Creating your Ledgerely account.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Connecting your bank accounts and credit cards.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Adding transactions.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Transactions reflecting on dashboards.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Creating a workbook with a list of sheets with customized charts and reports.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Know this first:</a:t>
            </a:r>
          </a:p>
          <a:p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Understand your dashboard.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Planning budgets.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Track expenses and investments periodically.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Setting financial goals and generating reports.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Your security management on changing or resetting your passwords.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Use Fast shopping:</a:t>
            </a:r>
          </a:p>
          <a:p>
            <a:endParaRPr lang="en-US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dirty="0"/>
              <a:t>Add transactions at ease using fast shopping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dirty="0"/>
              <a:t>Open the app.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dirty="0"/>
              <a:t>Select fast shopping.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dirty="0"/>
              <a:t>Add date, amount, category and bank. (Don’t worry, Some fields are auto selected)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dirty="0"/>
              <a:t>Submit to server.</a:t>
            </a:r>
          </a:p>
          <a:p>
            <a:endParaRPr lang="en-US" b="0" dirty="0"/>
          </a:p>
          <a:p>
            <a:r>
              <a:rPr lang="en-US" b="0" dirty="0"/>
              <a:t>Note, this feature works both online and offline.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Create your customized Workbook:</a:t>
            </a:r>
          </a:p>
          <a:p>
            <a:endParaRPr lang="en-US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Banking, money, investment and credit-card vector illustrations 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Modern infographic layout 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Animated chart or shape transitions 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Unlimited workbook sheets 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Shapes, tables &amp; charts 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Dynamic data sources 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Custom SQL queries 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Auto Save 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Save to server 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Export to PNG 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And much more...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26BA13-E548-B743-9623-EB12637D54D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59827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have some best practices for you.</a:t>
            </a:r>
          </a:p>
          <a:p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Your signing credentials are encrypted, so don’t worry about security.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Open Ledgerely in your device, It’s adaptive to all devices.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Start with one goal – Say you're planning your expenses, incomes and investments for next month, now!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Note: You too can plan for the next 5 years.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Add transactions daily and review your dashboard weekly.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Get the habit of practicing, manually entering your transactions.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Some basics are good to cover on your account management and plans.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 have reached the end of this session, to start a new journey with Ledgerely.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 set to on board and Sign up now..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Select a recommended subscription plan which suits your pocket, after Sign In.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I’ll leave the link in the description or click the top right card to sign up.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you're ready to take control of your finances and simplify your financial journey, you're in the right place.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Don't forget to Like, Subscribe, and turn on notifications so you never miss a new Ledgerely tutorial.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I'll see you in the next lesson! 🚀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Good Bye for now..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09B84-EB65-AC71-8CF5-745E5CEB30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77C7E5-48A4-02D0-6C1C-5DAAE662C3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2FB3D9-2F80-F845-4B82-414A326AFA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CDB39E-5683-AD44-89B1-94B75B088CED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0ECD79-6517-6760-7DA7-D34DFC4FD1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E01C3B-C393-1BCE-F255-676E32BB9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8234B-B1BA-B040-8718-063ABBDA28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01527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6BE845-009E-6EEC-0D6D-731905037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C921C2-86EE-38DD-1F92-B9ADDD53FB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00F195-6632-E4A5-4C58-4EECD7714A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CDB39E-5683-AD44-89B1-94B75B088CED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F54C95-FEC8-058B-C1DA-B08CEE1E48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383D31-3F89-8EFC-737E-A7408AC56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8234B-B1BA-B040-8718-063ABBDA28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56966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36D71-4041-2CFF-8079-6860A9ED72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F834DA-2018-5F26-5902-2667E97464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C1C030-031A-1E0F-0847-2712A36A9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CDB39E-5683-AD44-89B1-94B75B088CED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DD2FCB-E894-6C87-79F0-6194279ED4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CCE5D7-C2F5-D0F4-E127-8654F67BE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8234B-B1BA-B040-8718-063ABBDA28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7931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B76DE-D568-08FC-360B-63B05456E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066BCF-6A4D-AD0D-2177-6FEFB20D91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364EE9-1833-58E5-09D2-6890270974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FD93F0-EC19-644B-45ED-39D3ABCC39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CDB39E-5683-AD44-89B1-94B75B088CED}" type="datetimeFigureOut">
              <a:rPr lang="en-US" smtClean="0"/>
              <a:t>7/20/26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5EAA66-BA57-2FED-4BAA-BA8D3EA3BF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86DE32-077C-CACB-F0D8-CFA29EDB8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8234B-B1BA-B040-8718-063ABBDA28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5786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87126-4F65-79FE-8037-14C3A73F63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EF447B-5AF2-7247-A674-F30987BEF5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319298-5B43-C06F-008E-55A85784FA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ABC32E-9624-6A4F-E0C1-21E55B8EFF9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F036001-C615-715C-7DA5-5549CADC72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6446ACF-6092-29BB-BA55-6387642D0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CDB39E-5683-AD44-89B1-94B75B088CED}" type="datetimeFigureOut">
              <a:rPr lang="en-US" smtClean="0"/>
              <a:t>7/20/26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9326F18-D773-248F-2EEB-1BCCC74BD9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014517-72FC-D4EE-F066-245419572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8234B-B1BA-B040-8718-063ABBDA28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33304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EDE60E-724F-EDCA-16C7-599D3DA3BF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B5F4CC-ED45-218D-5D83-5E42424E9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CDB39E-5683-AD44-89B1-94B75B088CED}" type="datetimeFigureOut">
              <a:rPr lang="en-US" smtClean="0"/>
              <a:t>7/20/26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07C46B-7DD0-9D3D-9A88-5299ECA6EE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E98513-BB69-EECD-5E29-358F70771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8234B-B1BA-B040-8718-063ABBDA28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7527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CD81BD3-A226-0686-7170-4A6B504CF6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CDB39E-5683-AD44-89B1-94B75B088CED}" type="datetimeFigureOut">
              <a:rPr lang="en-US" smtClean="0"/>
              <a:t>7/20/26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60BE4DD-9A32-E321-8119-41DDA8E41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E51F6A-316F-C042-9890-AEC7C9CED2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8234B-B1BA-B040-8718-063ABBDA28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98186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A6644-E3EB-BF06-4826-84491EA12B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11167A-A4D8-8383-DF32-05ECA35923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2A3E4C-957D-7AB6-260C-F434540089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7CE46D-7537-3915-4FE2-389BF21B6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CDB39E-5683-AD44-89B1-94B75B088CED}" type="datetimeFigureOut">
              <a:rPr lang="en-US" smtClean="0"/>
              <a:t>7/20/26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F89CB9-64BC-E2EE-6CBB-C0B96B9CE9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29ADDA-5687-0778-B287-E752B12A6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8234B-B1BA-B040-8718-063ABBDA28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73021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55089-62A8-19C4-06FE-3E33C0855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F8DC9B7-B4FC-C37B-3940-89036F312C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77FC5D9-078A-A6AD-6F89-D65536FECE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16BD1B-1C2C-8F36-C012-8CB3943843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CDB39E-5683-AD44-89B1-94B75B088CED}" type="datetimeFigureOut">
              <a:rPr lang="en-US" smtClean="0"/>
              <a:t>7/20/26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CB56FF-0A95-A8C2-69F0-B4E85ED39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6BDE4C-DD49-DE51-A2BB-21BB9A3EE6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8234B-B1BA-B040-8718-063ABBDA28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3574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3B1A-C44B-AB68-808D-7096C4340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72FC02A-06FD-F6EA-A410-1CB97D4EE1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75F4F0-FD7F-112A-0B21-8F432040E9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CDB39E-5683-AD44-89B1-94B75B088CED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472EAC-3885-7724-4F03-DFAA6BC13F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F02DEB-3858-998B-3983-CD0744C076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8234B-B1BA-B040-8718-063ABBDA28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74962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FB485D8-2E32-524D-C4C9-C145B11D62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E08FF53-DE58-BD92-3B3C-31AA461E8D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70D92A-CA0B-95B7-E67F-6D3B27CA70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CDB39E-5683-AD44-89B1-94B75B088CED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339FD-94B1-98C0-A62B-0488A51C8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514877-066C-C933-0017-18A1B7933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8234B-B1BA-B040-8718-063ABBDA28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80139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811762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977E39-C862-2D82-61AD-639728567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2455B9-FF64-BEA2-1FF9-F850D1AA5A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B09BB2-4394-2563-ECF1-DDF28D5C08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CDB39E-5683-AD44-89B1-94B75B088CED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AE182B-D2BC-1220-0544-6078E4641F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B20B87-4223-9EAD-918C-28748C83D5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28234B-B1BA-B040-8718-063ABBDA28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34579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19.png"/><Relationship Id="rId3" Type="http://schemas.openxmlformats.org/officeDocument/2006/relationships/image" Target="../media/image15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.png"/><Relationship Id="rId11" Type="http://schemas.openxmlformats.org/officeDocument/2006/relationships/image" Target="../media/image18.png"/><Relationship Id="rId5" Type="http://schemas.openxmlformats.org/officeDocument/2006/relationships/image" Target="../media/image16.png"/><Relationship Id="rId15" Type="http://schemas.openxmlformats.org/officeDocument/2006/relationships/image" Target="../media/image2.png"/><Relationship Id="rId10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6.png"/><Relationship Id="rId14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20.png"/><Relationship Id="rId7" Type="http://schemas.openxmlformats.org/officeDocument/2006/relationships/image" Target="../media/image10.png"/><Relationship Id="rId12" Type="http://schemas.openxmlformats.org/officeDocument/2006/relationships/image" Target="../media/image2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8.png"/><Relationship Id="rId11" Type="http://schemas.openxmlformats.org/officeDocument/2006/relationships/image" Target="../media/image24.png"/><Relationship Id="rId5" Type="http://schemas.openxmlformats.org/officeDocument/2006/relationships/image" Target="../media/image9.png"/><Relationship Id="rId10" Type="http://schemas.openxmlformats.org/officeDocument/2006/relationships/image" Target="../media/image23.png"/><Relationship Id="rId4" Type="http://schemas.openxmlformats.org/officeDocument/2006/relationships/image" Target="../media/image3.png"/><Relationship Id="rId9" Type="http://schemas.openxmlformats.org/officeDocument/2006/relationships/image" Target="../media/image2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0.png"/><Relationship Id="rId5" Type="http://schemas.openxmlformats.org/officeDocument/2006/relationships/image" Target="../media/image5.png"/><Relationship Id="rId4" Type="http://schemas.openxmlformats.org/officeDocument/2006/relationships/image" Target="../media/image2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9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22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.png"/><Relationship Id="rId4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B613B0-A81D-6A22-CE00-72F343965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7C77451-F3ED-958D-5ABE-94A311DFB9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647"/>
            <a:ext cx="12192000" cy="6854353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88022D01-C14B-BDBF-2A2F-CA2FF353E094}"/>
              </a:ext>
            </a:extLst>
          </p:cNvPr>
          <p:cNvSpPr/>
          <p:nvPr/>
        </p:nvSpPr>
        <p:spPr>
          <a:xfrm>
            <a:off x="-2034294" y="2041506"/>
            <a:ext cx="1851414" cy="1384995"/>
          </a:xfrm>
          <a:prstGeom prst="rect">
            <a:avLst/>
          </a:prstGeom>
          <a:solidFill>
            <a:srgbClr val="000000">
              <a:alpha val="85000"/>
            </a:srgbClr>
          </a:solidFill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sz="2800" b="1" cap="none" spc="0">
                <a:ln/>
                <a:solidFill>
                  <a:srgbClr val="C2D82E"/>
                </a:solidFill>
                <a:effectLst/>
              </a:rPr>
              <a:t>Why Ledgerely ?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6510D89-4BF2-DB92-EEA8-E1E4F8E3731A}"/>
              </a:ext>
            </a:extLst>
          </p:cNvPr>
          <p:cNvSpPr/>
          <p:nvPr/>
        </p:nvSpPr>
        <p:spPr>
          <a:xfrm>
            <a:off x="-1555322" y="606991"/>
            <a:ext cx="1442112" cy="400110"/>
          </a:xfrm>
          <a:prstGeom prst="rect">
            <a:avLst/>
          </a:prstGeom>
          <a:solidFill>
            <a:srgbClr val="000000">
              <a:alpha val="81651"/>
            </a:srgbClr>
          </a:solidFill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sz="2000" b="1" cap="none" spc="0" dirty="0">
                <a:ln/>
                <a:solidFill>
                  <a:srgbClr val="C2D82E"/>
                </a:solidFill>
                <a:effectLst/>
              </a:rPr>
              <a:t>Lesson 1</a:t>
            </a:r>
          </a:p>
        </p:txBody>
      </p:sp>
    </p:spTree>
    <p:extLst>
      <p:ext uri="{BB962C8B-B14F-4D97-AF65-F5344CB8AC3E}">
        <p14:creationId xmlns:p14="http://schemas.microsoft.com/office/powerpoint/2010/main" val="3749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ard_1A1A1A.png"/>
          <p:cNvPicPr>
            <a:picLocks noChangeAspect="1"/>
          </p:cNvPicPr>
          <p:nvPr/>
        </p:nvPicPr>
        <p:blipFill>
          <a:blip r:embed="rId3">
            <a:alphaModFix amt="10000"/>
          </a:blip>
          <a:stretch>
            <a:fillRect/>
          </a:stretch>
        </p:blipFill>
        <p:spPr>
          <a:xfrm rot="720000">
            <a:off x="9250345" y="274229"/>
            <a:ext cx="3108960" cy="3108960"/>
          </a:xfrm>
          <a:prstGeom prst="rect">
            <a:avLst/>
          </a:prstGeom>
          <a:effectLst>
            <a:glow rad="127000">
              <a:schemeClr val="tx1">
                <a:lumMod val="85000"/>
                <a:lumOff val="15000"/>
              </a:schemeClr>
            </a:glow>
          </a:effectLst>
        </p:spPr>
      </p:pic>
      <p:pic>
        <p:nvPicPr>
          <p:cNvPr id="3" name="Image 1" descr="card_1A1A1A.png"/>
          <p:cNvPicPr>
            <a:picLocks noChangeAspect="1"/>
          </p:cNvPicPr>
          <p:nvPr/>
        </p:nvPicPr>
        <p:blipFill>
          <a:blip r:embed="rId3">
            <a:alphaModFix amt="10000"/>
          </a:blip>
          <a:stretch>
            <a:fillRect/>
          </a:stretch>
        </p:blipFill>
        <p:spPr>
          <a:xfrm rot="-600000">
            <a:off x="-1005840" y="4754880"/>
            <a:ext cx="2560320" cy="2560320"/>
          </a:xfrm>
          <a:prstGeom prst="rect">
            <a:avLst/>
          </a:prstGeom>
        </p:spPr>
      </p:pic>
      <p:pic>
        <p:nvPicPr>
          <p:cNvPr id="4" name="Image 2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11480"/>
            <a:ext cx="457200" cy="45720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097280" y="4114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LEDGERELY</a:t>
            </a:r>
            <a:endParaRPr lang="en-US" sz="1300" dirty="0"/>
          </a:p>
        </p:txBody>
      </p:sp>
      <p:sp>
        <p:nvSpPr>
          <p:cNvPr id="6" name="Text 1"/>
          <p:cNvSpPr/>
          <p:nvPr/>
        </p:nvSpPr>
        <p:spPr>
          <a:xfrm>
            <a:off x="548640" y="1051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C2D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01</a:t>
            </a:r>
            <a:endParaRPr lang="en-US" sz="1250" dirty="0"/>
          </a:p>
        </p:txBody>
      </p:sp>
      <p:sp>
        <p:nvSpPr>
          <p:cNvPr id="7" name="Text 2"/>
          <p:cNvSpPr/>
          <p:nvPr/>
        </p:nvSpPr>
        <p:spPr>
          <a:xfrm>
            <a:off x="548640" y="1353312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Why Ledgerely</a:t>
            </a:r>
            <a:endParaRPr lang="en-US" sz="3000" dirty="0"/>
          </a:p>
        </p:txBody>
      </p:sp>
      <p:sp>
        <p:nvSpPr>
          <p:cNvPr id="8" name="Text 3"/>
          <p:cNvSpPr/>
          <p:nvPr/>
        </p:nvSpPr>
        <p:spPr>
          <a:xfrm>
            <a:off x="548640" y="196596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D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reasons Ledgerely exists — helping people understand, manage, and grow their money with confidence.</a:t>
            </a:r>
            <a:endParaRPr lang="en-US" sz="1250" dirty="0"/>
          </a:p>
        </p:txBody>
      </p:sp>
      <p:sp>
        <p:nvSpPr>
          <p:cNvPr id="9" name="Shape 4"/>
          <p:cNvSpPr/>
          <p:nvPr/>
        </p:nvSpPr>
        <p:spPr>
          <a:xfrm>
            <a:off x="548640" y="2606040"/>
            <a:ext cx="5303520" cy="541020"/>
          </a:xfrm>
          <a:prstGeom prst="roundRect">
            <a:avLst>
              <a:gd name="adj" fmla="val 11831"/>
            </a:avLst>
          </a:prstGeom>
          <a:solidFill>
            <a:srgbClr val="1F1F1F"/>
          </a:solidFill>
          <a:ln/>
        </p:spPr>
      </p:sp>
      <p:sp>
        <p:nvSpPr>
          <p:cNvPr id="10" name="Shape 5"/>
          <p:cNvSpPr/>
          <p:nvPr/>
        </p:nvSpPr>
        <p:spPr>
          <a:xfrm>
            <a:off x="676656" y="2688336"/>
            <a:ext cx="376428" cy="376428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11" name="Image 3" descr="receipt_C2D82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6999" y="2778679"/>
            <a:ext cx="195743" cy="19574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235964" y="2606040"/>
            <a:ext cx="4479036" cy="5410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where every penny goes</a:t>
            </a:r>
            <a:endParaRPr lang="en-US" sz="1150" dirty="0"/>
          </a:p>
        </p:txBody>
      </p:sp>
      <p:sp>
        <p:nvSpPr>
          <p:cNvPr id="13" name="Shape 7"/>
          <p:cNvSpPr/>
          <p:nvPr/>
        </p:nvSpPr>
        <p:spPr>
          <a:xfrm>
            <a:off x="548640" y="3238500"/>
            <a:ext cx="5303520" cy="541020"/>
          </a:xfrm>
          <a:prstGeom prst="roundRect">
            <a:avLst>
              <a:gd name="adj" fmla="val 11831"/>
            </a:avLst>
          </a:prstGeom>
          <a:solidFill>
            <a:srgbClr val="1F1F1F"/>
          </a:solidFill>
          <a:ln/>
        </p:spPr>
      </p:sp>
      <p:sp>
        <p:nvSpPr>
          <p:cNvPr id="14" name="Shape 8"/>
          <p:cNvSpPr/>
          <p:nvPr/>
        </p:nvSpPr>
        <p:spPr>
          <a:xfrm>
            <a:off x="676656" y="3320796"/>
            <a:ext cx="376428" cy="376428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15" name="Image 4" descr="goal_C2D82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6999" y="3411139"/>
            <a:ext cx="195743" cy="195743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235964" y="3238500"/>
            <a:ext cx="4479036" cy="5410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 financial goals</a:t>
            </a:r>
            <a:endParaRPr lang="en-US" sz="1150" dirty="0"/>
          </a:p>
        </p:txBody>
      </p:sp>
      <p:sp>
        <p:nvSpPr>
          <p:cNvPr id="17" name="Shape 10"/>
          <p:cNvSpPr/>
          <p:nvPr/>
        </p:nvSpPr>
        <p:spPr>
          <a:xfrm>
            <a:off x="548640" y="3870960"/>
            <a:ext cx="5303520" cy="541020"/>
          </a:xfrm>
          <a:prstGeom prst="roundRect">
            <a:avLst>
              <a:gd name="adj" fmla="val 11831"/>
            </a:avLst>
          </a:prstGeom>
          <a:solidFill>
            <a:srgbClr val="1F1F1F"/>
          </a:solidFill>
          <a:ln/>
        </p:spPr>
      </p:sp>
      <p:sp>
        <p:nvSpPr>
          <p:cNvPr id="18" name="Shape 11"/>
          <p:cNvSpPr/>
          <p:nvPr/>
        </p:nvSpPr>
        <p:spPr>
          <a:xfrm>
            <a:off x="676656" y="3953256"/>
            <a:ext cx="376428" cy="376428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19" name="Image 5" descr="chart_C2D82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6999" y="4043599"/>
            <a:ext cx="195743" cy="195743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1235964" y="3870960"/>
            <a:ext cx="4479036" cy="5410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investments</a:t>
            </a:r>
            <a:endParaRPr lang="en-US" sz="1150" dirty="0"/>
          </a:p>
        </p:txBody>
      </p:sp>
      <p:sp>
        <p:nvSpPr>
          <p:cNvPr id="21" name="Shape 13"/>
          <p:cNvSpPr/>
          <p:nvPr/>
        </p:nvSpPr>
        <p:spPr>
          <a:xfrm>
            <a:off x="548640" y="4503420"/>
            <a:ext cx="5303520" cy="541020"/>
          </a:xfrm>
          <a:prstGeom prst="roundRect">
            <a:avLst>
              <a:gd name="adj" fmla="val 11831"/>
            </a:avLst>
          </a:prstGeom>
          <a:solidFill>
            <a:srgbClr val="1F1F1F"/>
          </a:solidFill>
          <a:ln/>
        </p:spPr>
      </p:sp>
      <p:sp>
        <p:nvSpPr>
          <p:cNvPr id="22" name="Shape 14"/>
          <p:cNvSpPr/>
          <p:nvPr/>
        </p:nvSpPr>
        <p:spPr>
          <a:xfrm>
            <a:off x="676656" y="4585716"/>
            <a:ext cx="376428" cy="376428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23" name="Image 6" descr="bank_C2D82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6999" y="4676059"/>
            <a:ext cx="195743" cy="195743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1235964" y="4503420"/>
            <a:ext cx="4479036" cy="5410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loans / EMI's</a:t>
            </a:r>
            <a:endParaRPr lang="en-US" sz="1150" dirty="0"/>
          </a:p>
        </p:txBody>
      </p:sp>
      <p:sp>
        <p:nvSpPr>
          <p:cNvPr id="25" name="Shape 16"/>
          <p:cNvSpPr/>
          <p:nvPr/>
        </p:nvSpPr>
        <p:spPr>
          <a:xfrm>
            <a:off x="548640" y="5135880"/>
            <a:ext cx="5303520" cy="541020"/>
          </a:xfrm>
          <a:prstGeom prst="roundRect">
            <a:avLst>
              <a:gd name="adj" fmla="val 11831"/>
            </a:avLst>
          </a:prstGeom>
          <a:solidFill>
            <a:srgbClr val="1F1F1F"/>
          </a:solidFill>
          <a:ln/>
        </p:spPr>
      </p:sp>
      <p:sp>
        <p:nvSpPr>
          <p:cNvPr id="26" name="Shape 17"/>
          <p:cNvSpPr/>
          <p:nvPr/>
        </p:nvSpPr>
        <p:spPr>
          <a:xfrm>
            <a:off x="676656" y="5218176"/>
            <a:ext cx="376428" cy="376428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27" name="Image 7" descr="brain_C2D82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6999" y="5308519"/>
            <a:ext cx="195743" cy="195743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1235964" y="5135880"/>
            <a:ext cx="4479036" cy="5410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powered</a:t>
            </a:r>
            <a:endParaRPr lang="en-US" sz="1150" dirty="0"/>
          </a:p>
        </p:txBody>
      </p:sp>
      <p:sp>
        <p:nvSpPr>
          <p:cNvPr id="29" name="Shape 19"/>
          <p:cNvSpPr/>
          <p:nvPr/>
        </p:nvSpPr>
        <p:spPr>
          <a:xfrm>
            <a:off x="548640" y="5768340"/>
            <a:ext cx="5303520" cy="541020"/>
          </a:xfrm>
          <a:prstGeom prst="roundRect">
            <a:avLst>
              <a:gd name="adj" fmla="val 11831"/>
            </a:avLst>
          </a:prstGeom>
          <a:solidFill>
            <a:srgbClr val="1F1F1F"/>
          </a:solidFill>
          <a:ln/>
        </p:spPr>
      </p:sp>
      <p:sp>
        <p:nvSpPr>
          <p:cNvPr id="30" name="Shape 20"/>
          <p:cNvSpPr/>
          <p:nvPr/>
        </p:nvSpPr>
        <p:spPr>
          <a:xfrm>
            <a:off x="676656" y="5850636"/>
            <a:ext cx="376428" cy="376428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31" name="Image 8" descr="mobile_C2D82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6999" y="5940979"/>
            <a:ext cx="195743" cy="195743"/>
          </a:xfrm>
          <a:prstGeom prst="rect">
            <a:avLst/>
          </a:prstGeom>
        </p:spPr>
      </p:pic>
      <p:sp>
        <p:nvSpPr>
          <p:cNvPr id="32" name="Text 21"/>
          <p:cNvSpPr/>
          <p:nvPr/>
        </p:nvSpPr>
        <p:spPr>
          <a:xfrm>
            <a:off x="1235964" y="5768340"/>
            <a:ext cx="4479036" cy="5410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anywhere (any device)</a:t>
            </a:r>
            <a:endParaRPr lang="en-US" sz="1150" dirty="0"/>
          </a:p>
        </p:txBody>
      </p:sp>
      <p:sp>
        <p:nvSpPr>
          <p:cNvPr id="33" name="Shape 22"/>
          <p:cNvSpPr/>
          <p:nvPr/>
        </p:nvSpPr>
        <p:spPr>
          <a:xfrm>
            <a:off x="6172200" y="2606040"/>
            <a:ext cx="5303520" cy="541020"/>
          </a:xfrm>
          <a:prstGeom prst="roundRect">
            <a:avLst>
              <a:gd name="adj" fmla="val 11831"/>
            </a:avLst>
          </a:prstGeom>
          <a:solidFill>
            <a:srgbClr val="1F1F1F"/>
          </a:solidFill>
          <a:ln/>
        </p:spPr>
      </p:sp>
      <p:sp>
        <p:nvSpPr>
          <p:cNvPr id="34" name="Shape 23"/>
          <p:cNvSpPr/>
          <p:nvPr/>
        </p:nvSpPr>
        <p:spPr>
          <a:xfrm>
            <a:off x="6300216" y="2688336"/>
            <a:ext cx="376428" cy="376428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35" name="Image 9" descr="wifi_C2D82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90559" y="2778679"/>
            <a:ext cx="195743" cy="195743"/>
          </a:xfrm>
          <a:prstGeom prst="rect">
            <a:avLst/>
          </a:prstGeom>
        </p:spPr>
      </p:pic>
      <p:sp>
        <p:nvSpPr>
          <p:cNvPr id="36" name="Text 24"/>
          <p:cNvSpPr/>
          <p:nvPr/>
        </p:nvSpPr>
        <p:spPr>
          <a:xfrm>
            <a:off x="6859524" y="2606040"/>
            <a:ext cx="4479036" cy="5410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limited internet</a:t>
            </a:r>
            <a:endParaRPr lang="en-US" sz="1150" dirty="0"/>
          </a:p>
        </p:txBody>
      </p:sp>
      <p:sp>
        <p:nvSpPr>
          <p:cNvPr id="37" name="Shape 25"/>
          <p:cNvSpPr/>
          <p:nvPr/>
        </p:nvSpPr>
        <p:spPr>
          <a:xfrm>
            <a:off x="6172200" y="3238500"/>
            <a:ext cx="5303520" cy="541020"/>
          </a:xfrm>
          <a:prstGeom prst="roundRect">
            <a:avLst>
              <a:gd name="adj" fmla="val 11831"/>
            </a:avLst>
          </a:prstGeom>
          <a:solidFill>
            <a:srgbClr val="1F1F1F"/>
          </a:solidFill>
          <a:ln/>
        </p:spPr>
      </p:sp>
      <p:sp>
        <p:nvSpPr>
          <p:cNvPr id="38" name="Shape 26"/>
          <p:cNvSpPr/>
          <p:nvPr/>
        </p:nvSpPr>
        <p:spPr>
          <a:xfrm>
            <a:off x="6300216" y="3320796"/>
            <a:ext cx="376428" cy="376428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39" name="Image 10" descr="piggy_C2D82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90559" y="3411139"/>
            <a:ext cx="195743" cy="195743"/>
          </a:xfrm>
          <a:prstGeom prst="rect">
            <a:avLst/>
          </a:prstGeom>
        </p:spPr>
      </p:pic>
      <p:sp>
        <p:nvSpPr>
          <p:cNvPr id="40" name="Text 27"/>
          <p:cNvSpPr/>
          <p:nvPr/>
        </p:nvSpPr>
        <p:spPr>
          <a:xfrm>
            <a:off x="6859524" y="3238500"/>
            <a:ext cx="4479036" cy="5410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financial domain in one place</a:t>
            </a:r>
            <a:endParaRPr lang="en-US" sz="1150" dirty="0"/>
          </a:p>
        </p:txBody>
      </p:sp>
      <p:sp>
        <p:nvSpPr>
          <p:cNvPr id="41" name="Shape 28"/>
          <p:cNvSpPr/>
          <p:nvPr/>
        </p:nvSpPr>
        <p:spPr>
          <a:xfrm>
            <a:off x="6172200" y="3870960"/>
            <a:ext cx="5303520" cy="541020"/>
          </a:xfrm>
          <a:prstGeom prst="roundRect">
            <a:avLst>
              <a:gd name="adj" fmla="val 11831"/>
            </a:avLst>
          </a:prstGeom>
          <a:solidFill>
            <a:srgbClr val="1F1F1F"/>
          </a:solidFill>
          <a:ln/>
        </p:spPr>
      </p:sp>
      <p:sp>
        <p:nvSpPr>
          <p:cNvPr id="42" name="Shape 29"/>
          <p:cNvSpPr/>
          <p:nvPr/>
        </p:nvSpPr>
        <p:spPr>
          <a:xfrm>
            <a:off x="6300216" y="3953256"/>
            <a:ext cx="376428" cy="376428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43" name="Image 11" descr="pie_C2D82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90559" y="4043599"/>
            <a:ext cx="195743" cy="195743"/>
          </a:xfrm>
          <a:prstGeom prst="rect">
            <a:avLst/>
          </a:prstGeom>
        </p:spPr>
      </p:pic>
      <p:sp>
        <p:nvSpPr>
          <p:cNvPr id="44" name="Text 30"/>
          <p:cNvSpPr/>
          <p:nvPr/>
        </p:nvSpPr>
        <p:spPr>
          <a:xfrm>
            <a:off x="6859524" y="3870960"/>
            <a:ext cx="4479036" cy="5410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decisions</a:t>
            </a:r>
            <a:endParaRPr lang="en-US" sz="1150" dirty="0"/>
          </a:p>
        </p:txBody>
      </p:sp>
      <p:sp>
        <p:nvSpPr>
          <p:cNvPr id="45" name="Shape 31"/>
          <p:cNvSpPr/>
          <p:nvPr/>
        </p:nvSpPr>
        <p:spPr>
          <a:xfrm>
            <a:off x="6172200" y="4503420"/>
            <a:ext cx="5303520" cy="541020"/>
          </a:xfrm>
          <a:prstGeom prst="roundRect">
            <a:avLst>
              <a:gd name="adj" fmla="val 11831"/>
            </a:avLst>
          </a:prstGeom>
          <a:solidFill>
            <a:srgbClr val="1F1F1F"/>
          </a:solidFill>
          <a:ln/>
        </p:spPr>
      </p:sp>
      <p:sp>
        <p:nvSpPr>
          <p:cNvPr id="46" name="Shape 32"/>
          <p:cNvSpPr/>
          <p:nvPr/>
        </p:nvSpPr>
        <p:spPr>
          <a:xfrm>
            <a:off x="6300216" y="4585716"/>
            <a:ext cx="376428" cy="376428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47" name="Image 12" descr="clock_C2D82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390559" y="4676059"/>
            <a:ext cx="195743" cy="195743"/>
          </a:xfrm>
          <a:prstGeom prst="rect">
            <a:avLst/>
          </a:prstGeom>
        </p:spPr>
      </p:pic>
      <p:sp>
        <p:nvSpPr>
          <p:cNvPr id="48" name="Text 33"/>
          <p:cNvSpPr/>
          <p:nvPr/>
        </p:nvSpPr>
        <p:spPr>
          <a:xfrm>
            <a:off x="6859524" y="4503420"/>
            <a:ext cx="4479036" cy="5410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for future</a:t>
            </a:r>
            <a:endParaRPr lang="en-US" sz="1150" dirty="0"/>
          </a:p>
        </p:txBody>
      </p:sp>
      <p:sp>
        <p:nvSpPr>
          <p:cNvPr id="49" name="Shape 34"/>
          <p:cNvSpPr/>
          <p:nvPr/>
        </p:nvSpPr>
        <p:spPr>
          <a:xfrm>
            <a:off x="6172200" y="5135880"/>
            <a:ext cx="5303520" cy="541020"/>
          </a:xfrm>
          <a:prstGeom prst="roundRect">
            <a:avLst>
              <a:gd name="adj" fmla="val 11831"/>
            </a:avLst>
          </a:prstGeom>
          <a:solidFill>
            <a:srgbClr val="1F1F1F"/>
          </a:solidFill>
          <a:ln/>
        </p:spPr>
      </p:sp>
      <p:sp>
        <p:nvSpPr>
          <p:cNvPr id="50" name="Shape 35"/>
          <p:cNvSpPr/>
          <p:nvPr/>
        </p:nvSpPr>
        <p:spPr>
          <a:xfrm>
            <a:off x="6300216" y="5218176"/>
            <a:ext cx="376428" cy="376428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51" name="Image 13" descr="clock_C2D82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390559" y="5308519"/>
            <a:ext cx="195743" cy="195743"/>
          </a:xfrm>
          <a:prstGeom prst="rect">
            <a:avLst/>
          </a:prstGeom>
        </p:spPr>
      </p:pic>
      <p:sp>
        <p:nvSpPr>
          <p:cNvPr id="52" name="Text 36"/>
          <p:cNvSpPr/>
          <p:nvPr/>
        </p:nvSpPr>
        <p:spPr>
          <a:xfrm>
            <a:off x="6859524" y="5135880"/>
            <a:ext cx="4479036" cy="5410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time</a:t>
            </a:r>
            <a:endParaRPr lang="en-US" sz="1150" dirty="0"/>
          </a:p>
        </p:txBody>
      </p:sp>
      <p:sp>
        <p:nvSpPr>
          <p:cNvPr id="53" name="Shape 37"/>
          <p:cNvSpPr/>
          <p:nvPr/>
        </p:nvSpPr>
        <p:spPr>
          <a:xfrm>
            <a:off x="6172200" y="5768340"/>
            <a:ext cx="5303520" cy="541020"/>
          </a:xfrm>
          <a:prstGeom prst="roundRect">
            <a:avLst>
              <a:gd name="adj" fmla="val 11831"/>
            </a:avLst>
          </a:prstGeom>
          <a:solidFill>
            <a:srgbClr val="1F1F1F"/>
          </a:solidFill>
          <a:ln/>
        </p:spPr>
      </p:sp>
      <p:sp>
        <p:nvSpPr>
          <p:cNvPr id="54" name="Shape 38"/>
          <p:cNvSpPr/>
          <p:nvPr/>
        </p:nvSpPr>
        <p:spPr>
          <a:xfrm>
            <a:off x="6300216" y="5850636"/>
            <a:ext cx="376428" cy="376428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55" name="Image 14" descr="check_C2D82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90559" y="5940979"/>
            <a:ext cx="195743" cy="195743"/>
          </a:xfrm>
          <a:prstGeom prst="rect">
            <a:avLst/>
          </a:prstGeom>
        </p:spPr>
      </p:pic>
      <p:sp>
        <p:nvSpPr>
          <p:cNvPr id="56" name="Text 39"/>
          <p:cNvSpPr/>
          <p:nvPr/>
        </p:nvSpPr>
        <p:spPr>
          <a:xfrm>
            <a:off x="6859524" y="5768340"/>
            <a:ext cx="4479036" cy="5410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Suitable for all users</a:t>
            </a:r>
            <a:endParaRPr lang="en-US" sz="1150" dirty="0"/>
          </a:p>
        </p:txBody>
      </p:sp>
      <p:sp>
        <p:nvSpPr>
          <p:cNvPr id="57" name="Text 40"/>
          <p:cNvSpPr/>
          <p:nvPr/>
        </p:nvSpPr>
        <p:spPr>
          <a:xfrm>
            <a:off x="548640" y="652881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LEDGERELY  |  FEATURES OVERVIEW</a:t>
            </a:r>
            <a:endParaRPr lang="en-US" sz="900" dirty="0"/>
          </a:p>
        </p:txBody>
      </p:sp>
      <p:sp>
        <p:nvSpPr>
          <p:cNvPr id="58" name="Text 41"/>
          <p:cNvSpPr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ins_1A1A1A.png"/>
          <p:cNvPicPr>
            <a:picLocks noChangeAspect="1"/>
          </p:cNvPicPr>
          <p:nvPr/>
        </p:nvPicPr>
        <p:blipFill>
          <a:blip r:embed="rId3">
            <a:alphaModFix amt="10000"/>
          </a:blip>
          <a:stretch>
            <a:fillRect/>
          </a:stretch>
        </p:blipFill>
        <p:spPr>
          <a:xfrm rot="-720000">
            <a:off x="4815624" y="113142"/>
            <a:ext cx="2926080" cy="2926080"/>
          </a:xfrm>
          <a:prstGeom prst="rect">
            <a:avLst/>
          </a:prstGeom>
          <a:effectLst>
            <a:glow rad="127000">
              <a:schemeClr val="tx1">
                <a:lumMod val="85000"/>
                <a:lumOff val="15000"/>
              </a:schemeClr>
            </a:glow>
          </a:effectLst>
        </p:spPr>
      </p:pic>
      <p:pic>
        <p:nvPicPr>
          <p:cNvPr id="3" name="Image 1" descr="coins_1A1A1A.png"/>
          <p:cNvPicPr>
            <a:picLocks noChangeAspect="1"/>
          </p:cNvPicPr>
          <p:nvPr/>
        </p:nvPicPr>
        <p:blipFill>
          <a:blip r:embed="rId3">
            <a:alphaModFix amt="10000"/>
          </a:blip>
          <a:stretch>
            <a:fillRect/>
          </a:stretch>
        </p:blipFill>
        <p:spPr>
          <a:xfrm rot="600000">
            <a:off x="-914400" y="-914400"/>
            <a:ext cx="2377440" cy="2377440"/>
          </a:xfrm>
          <a:prstGeom prst="rect">
            <a:avLst/>
          </a:prstGeom>
        </p:spPr>
      </p:pic>
      <p:pic>
        <p:nvPicPr>
          <p:cNvPr id="4" name="Image 2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11480"/>
            <a:ext cx="457200" cy="45720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097280" y="4114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LEDGERELY</a:t>
            </a:r>
            <a:endParaRPr lang="en-US" sz="1300" dirty="0"/>
          </a:p>
        </p:txBody>
      </p:sp>
      <p:sp>
        <p:nvSpPr>
          <p:cNvPr id="6" name="Text 1"/>
          <p:cNvSpPr/>
          <p:nvPr/>
        </p:nvSpPr>
        <p:spPr>
          <a:xfrm>
            <a:off x="548640" y="1051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C2D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02</a:t>
            </a:r>
            <a:endParaRPr lang="en-US" sz="1250" dirty="0"/>
          </a:p>
        </p:txBody>
      </p:sp>
      <p:sp>
        <p:nvSpPr>
          <p:cNvPr id="7" name="Text 2"/>
          <p:cNvSpPr/>
          <p:nvPr/>
        </p:nvSpPr>
        <p:spPr>
          <a:xfrm>
            <a:off x="548640" y="1353312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Importance</a:t>
            </a:r>
            <a:endParaRPr lang="en-US" sz="3000" dirty="0"/>
          </a:p>
        </p:txBody>
      </p:sp>
      <p:sp>
        <p:nvSpPr>
          <p:cNvPr id="8" name="Text 3"/>
          <p:cNvSpPr/>
          <p:nvPr/>
        </p:nvSpPr>
        <p:spPr>
          <a:xfrm>
            <a:off x="548640" y="196596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D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Ledgerely matters day to day — the practical value it delivers for every user's financial life.</a:t>
            </a:r>
            <a:endParaRPr lang="en-US" sz="1250" dirty="0"/>
          </a:p>
        </p:txBody>
      </p:sp>
      <p:sp>
        <p:nvSpPr>
          <p:cNvPr id="9" name="Shape 4"/>
          <p:cNvSpPr/>
          <p:nvPr/>
        </p:nvSpPr>
        <p:spPr>
          <a:xfrm>
            <a:off x="548640" y="2606040"/>
            <a:ext cx="5303520" cy="667512"/>
          </a:xfrm>
          <a:prstGeom prst="roundRect">
            <a:avLst>
              <a:gd name="adj" fmla="val 9589"/>
            </a:avLst>
          </a:prstGeom>
          <a:solidFill>
            <a:srgbClr val="1F1F1F"/>
          </a:solidFill>
          <a:ln/>
        </p:spPr>
      </p:sp>
      <p:sp>
        <p:nvSpPr>
          <p:cNvPr id="10" name="Shape 5"/>
          <p:cNvSpPr/>
          <p:nvPr/>
        </p:nvSpPr>
        <p:spPr>
          <a:xfrm>
            <a:off x="676656" y="2729484"/>
            <a:ext cx="420624" cy="420624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11" name="Image 3" descr="eye_C2D82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606" y="2830434"/>
            <a:ext cx="218724" cy="218724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280160" y="2606040"/>
            <a:ext cx="4434840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financial visibility</a:t>
            </a:r>
            <a:endParaRPr lang="en-US" sz="1150" dirty="0"/>
          </a:p>
        </p:txBody>
      </p:sp>
      <p:sp>
        <p:nvSpPr>
          <p:cNvPr id="13" name="Shape 7"/>
          <p:cNvSpPr/>
          <p:nvPr/>
        </p:nvSpPr>
        <p:spPr>
          <a:xfrm>
            <a:off x="548640" y="3364992"/>
            <a:ext cx="5303520" cy="667512"/>
          </a:xfrm>
          <a:prstGeom prst="roundRect">
            <a:avLst>
              <a:gd name="adj" fmla="val 9589"/>
            </a:avLst>
          </a:prstGeom>
          <a:solidFill>
            <a:srgbClr val="1F1F1F"/>
          </a:solidFill>
          <a:ln/>
        </p:spPr>
      </p:sp>
      <p:sp>
        <p:nvSpPr>
          <p:cNvPr id="14" name="Shape 8"/>
          <p:cNvSpPr/>
          <p:nvPr/>
        </p:nvSpPr>
        <p:spPr>
          <a:xfrm>
            <a:off x="676656" y="3488436"/>
            <a:ext cx="420624" cy="420624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15" name="Image 4" descr="pie_C2D82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606" y="3589386"/>
            <a:ext cx="218724" cy="218724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280160" y="3364992"/>
            <a:ext cx="4434840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budgeting</a:t>
            </a:r>
            <a:endParaRPr lang="en-US" sz="1150" dirty="0"/>
          </a:p>
        </p:txBody>
      </p:sp>
      <p:sp>
        <p:nvSpPr>
          <p:cNvPr id="17" name="Shape 10"/>
          <p:cNvSpPr/>
          <p:nvPr/>
        </p:nvSpPr>
        <p:spPr>
          <a:xfrm>
            <a:off x="548640" y="4123944"/>
            <a:ext cx="5303520" cy="667512"/>
          </a:xfrm>
          <a:prstGeom prst="roundRect">
            <a:avLst>
              <a:gd name="adj" fmla="val 9589"/>
            </a:avLst>
          </a:prstGeom>
          <a:solidFill>
            <a:srgbClr val="1F1F1F"/>
          </a:solidFill>
          <a:ln/>
        </p:spPr>
      </p:sp>
      <p:sp>
        <p:nvSpPr>
          <p:cNvPr id="18" name="Shape 11"/>
          <p:cNvSpPr/>
          <p:nvPr/>
        </p:nvSpPr>
        <p:spPr>
          <a:xfrm>
            <a:off x="676656" y="4247388"/>
            <a:ext cx="420624" cy="420624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19" name="Image 5" descr="goal_C2D82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606" y="4348338"/>
            <a:ext cx="218724" cy="218724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1280160" y="4123944"/>
            <a:ext cx="4434840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based financial planning</a:t>
            </a:r>
            <a:endParaRPr lang="en-US" sz="1150" dirty="0"/>
          </a:p>
        </p:txBody>
      </p:sp>
      <p:sp>
        <p:nvSpPr>
          <p:cNvPr id="21" name="Shape 13"/>
          <p:cNvSpPr/>
          <p:nvPr/>
        </p:nvSpPr>
        <p:spPr>
          <a:xfrm>
            <a:off x="548640" y="4882896"/>
            <a:ext cx="5303520" cy="667512"/>
          </a:xfrm>
          <a:prstGeom prst="roundRect">
            <a:avLst>
              <a:gd name="adj" fmla="val 9589"/>
            </a:avLst>
          </a:prstGeom>
          <a:solidFill>
            <a:srgbClr val="1F1F1F"/>
          </a:solidFill>
          <a:ln/>
        </p:spPr>
      </p:sp>
      <p:sp>
        <p:nvSpPr>
          <p:cNvPr id="22" name="Shape 14"/>
          <p:cNvSpPr/>
          <p:nvPr/>
        </p:nvSpPr>
        <p:spPr>
          <a:xfrm>
            <a:off x="676656" y="5006340"/>
            <a:ext cx="420624" cy="420624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23" name="Image 6" descr="card_C2D82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606" y="5107290"/>
            <a:ext cx="218724" cy="218724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1280160" y="4882896"/>
            <a:ext cx="4434840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management</a:t>
            </a:r>
            <a:endParaRPr lang="en-US" sz="1150" dirty="0"/>
          </a:p>
        </p:txBody>
      </p:sp>
      <p:sp>
        <p:nvSpPr>
          <p:cNvPr id="25" name="Shape 16"/>
          <p:cNvSpPr/>
          <p:nvPr/>
        </p:nvSpPr>
        <p:spPr>
          <a:xfrm>
            <a:off x="548640" y="5641848"/>
            <a:ext cx="5303520" cy="667512"/>
          </a:xfrm>
          <a:prstGeom prst="roundRect">
            <a:avLst>
              <a:gd name="adj" fmla="val 9589"/>
            </a:avLst>
          </a:prstGeom>
          <a:solidFill>
            <a:srgbClr val="1F1F1F"/>
          </a:solidFill>
          <a:ln/>
        </p:spPr>
      </p:sp>
      <p:sp>
        <p:nvSpPr>
          <p:cNvPr id="26" name="Shape 17"/>
          <p:cNvSpPr/>
          <p:nvPr/>
        </p:nvSpPr>
        <p:spPr>
          <a:xfrm>
            <a:off x="676656" y="5765292"/>
            <a:ext cx="420624" cy="420624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27" name="Image 7" descr="chart_C2D82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606" y="5866242"/>
            <a:ext cx="218724" cy="218724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1280160" y="5641848"/>
            <a:ext cx="4434840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flow analysis</a:t>
            </a:r>
            <a:endParaRPr lang="en-US" sz="1150" dirty="0"/>
          </a:p>
        </p:txBody>
      </p:sp>
      <p:sp>
        <p:nvSpPr>
          <p:cNvPr id="29" name="Shape 19"/>
          <p:cNvSpPr/>
          <p:nvPr/>
        </p:nvSpPr>
        <p:spPr>
          <a:xfrm>
            <a:off x="6016752" y="2322576"/>
            <a:ext cx="5303520" cy="542109"/>
          </a:xfrm>
          <a:prstGeom prst="roundRect">
            <a:avLst>
              <a:gd name="adj" fmla="val 11807"/>
            </a:avLst>
          </a:prstGeom>
          <a:solidFill>
            <a:srgbClr val="1F1F1F"/>
          </a:solidFill>
          <a:ln/>
        </p:spPr>
      </p:sp>
      <p:sp>
        <p:nvSpPr>
          <p:cNvPr id="30" name="Shape 20"/>
          <p:cNvSpPr/>
          <p:nvPr/>
        </p:nvSpPr>
        <p:spPr>
          <a:xfrm>
            <a:off x="6144768" y="2404872"/>
            <a:ext cx="377517" cy="377517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31" name="Image 8" descr="receipt_C2D82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35372" y="2495476"/>
            <a:ext cx="196309" cy="196309"/>
          </a:xfrm>
          <a:prstGeom prst="rect">
            <a:avLst/>
          </a:prstGeom>
        </p:spPr>
      </p:pic>
      <p:sp>
        <p:nvSpPr>
          <p:cNvPr id="32" name="Text 21"/>
          <p:cNvSpPr/>
          <p:nvPr/>
        </p:nvSpPr>
        <p:spPr>
          <a:xfrm>
            <a:off x="6705165" y="2322576"/>
            <a:ext cx="4477947" cy="54210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reports</a:t>
            </a:r>
            <a:endParaRPr lang="en-US" sz="1150" dirty="0"/>
          </a:p>
        </p:txBody>
      </p:sp>
      <p:sp>
        <p:nvSpPr>
          <p:cNvPr id="33" name="Shape 22"/>
          <p:cNvSpPr/>
          <p:nvPr/>
        </p:nvSpPr>
        <p:spPr>
          <a:xfrm>
            <a:off x="6016752" y="2956125"/>
            <a:ext cx="5303520" cy="542109"/>
          </a:xfrm>
          <a:prstGeom prst="roundRect">
            <a:avLst>
              <a:gd name="adj" fmla="val 11807"/>
            </a:avLst>
          </a:prstGeom>
          <a:solidFill>
            <a:srgbClr val="1F1F1F"/>
          </a:solidFill>
          <a:ln/>
        </p:spPr>
      </p:sp>
      <p:sp>
        <p:nvSpPr>
          <p:cNvPr id="34" name="Shape 23"/>
          <p:cNvSpPr/>
          <p:nvPr/>
        </p:nvSpPr>
        <p:spPr>
          <a:xfrm>
            <a:off x="6144768" y="3038421"/>
            <a:ext cx="377517" cy="377517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35" name="Image 9" descr="desktop_C2D82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35372" y="3129025"/>
            <a:ext cx="196309" cy="196309"/>
          </a:xfrm>
          <a:prstGeom prst="rect">
            <a:avLst/>
          </a:prstGeom>
        </p:spPr>
      </p:pic>
      <p:sp>
        <p:nvSpPr>
          <p:cNvPr id="36" name="Text 24"/>
          <p:cNvSpPr/>
          <p:nvPr/>
        </p:nvSpPr>
        <p:spPr>
          <a:xfrm>
            <a:off x="6705165" y="2956125"/>
            <a:ext cx="4477947" cy="54210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 access</a:t>
            </a:r>
            <a:endParaRPr lang="en-US" sz="1150" dirty="0"/>
          </a:p>
        </p:txBody>
      </p:sp>
      <p:sp>
        <p:nvSpPr>
          <p:cNvPr id="37" name="Shape 25"/>
          <p:cNvSpPr/>
          <p:nvPr/>
        </p:nvSpPr>
        <p:spPr>
          <a:xfrm>
            <a:off x="6016752" y="3589673"/>
            <a:ext cx="5303520" cy="542109"/>
          </a:xfrm>
          <a:prstGeom prst="roundRect">
            <a:avLst>
              <a:gd name="adj" fmla="val 11807"/>
            </a:avLst>
          </a:prstGeom>
          <a:solidFill>
            <a:srgbClr val="1F1F1F"/>
          </a:solidFill>
          <a:ln/>
        </p:spPr>
      </p:sp>
      <p:sp>
        <p:nvSpPr>
          <p:cNvPr id="38" name="Shape 26"/>
          <p:cNvSpPr/>
          <p:nvPr/>
        </p:nvSpPr>
        <p:spPr>
          <a:xfrm>
            <a:off x="6144768" y="3671969"/>
            <a:ext cx="377517" cy="377517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39" name="Image 10" descr="wifi_C2D82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35372" y="3762573"/>
            <a:ext cx="196309" cy="196309"/>
          </a:xfrm>
          <a:prstGeom prst="rect">
            <a:avLst/>
          </a:prstGeom>
        </p:spPr>
      </p:pic>
      <p:sp>
        <p:nvSpPr>
          <p:cNvPr id="40" name="Text 27"/>
          <p:cNvSpPr/>
          <p:nvPr/>
        </p:nvSpPr>
        <p:spPr>
          <a:xfrm>
            <a:off x="6705165" y="3589673"/>
            <a:ext cx="4477947" cy="54210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capability</a:t>
            </a:r>
            <a:endParaRPr lang="en-US" sz="1150" dirty="0"/>
          </a:p>
        </p:txBody>
      </p:sp>
      <p:sp>
        <p:nvSpPr>
          <p:cNvPr id="41" name="Shape 28"/>
          <p:cNvSpPr/>
          <p:nvPr/>
        </p:nvSpPr>
        <p:spPr>
          <a:xfrm>
            <a:off x="6016752" y="4223222"/>
            <a:ext cx="5303520" cy="542109"/>
          </a:xfrm>
          <a:prstGeom prst="roundRect">
            <a:avLst>
              <a:gd name="adj" fmla="val 11807"/>
            </a:avLst>
          </a:prstGeom>
          <a:solidFill>
            <a:srgbClr val="1F1F1F"/>
          </a:solidFill>
          <a:ln/>
        </p:spPr>
      </p:sp>
      <p:sp>
        <p:nvSpPr>
          <p:cNvPr id="42" name="Shape 29"/>
          <p:cNvSpPr/>
          <p:nvPr/>
        </p:nvSpPr>
        <p:spPr>
          <a:xfrm>
            <a:off x="6144768" y="4305518"/>
            <a:ext cx="377517" cy="377517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43" name="Image 11" descr="shield_C2D82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35372" y="4396122"/>
            <a:ext cx="196309" cy="196309"/>
          </a:xfrm>
          <a:prstGeom prst="rect">
            <a:avLst/>
          </a:prstGeom>
        </p:spPr>
      </p:pic>
      <p:sp>
        <p:nvSpPr>
          <p:cNvPr id="44" name="Text 30"/>
          <p:cNvSpPr/>
          <p:nvPr/>
        </p:nvSpPr>
        <p:spPr>
          <a:xfrm>
            <a:off x="6705165" y="4223222"/>
            <a:ext cx="4477947" cy="54210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security</a:t>
            </a:r>
            <a:endParaRPr lang="en-US" sz="1150" dirty="0"/>
          </a:p>
        </p:txBody>
      </p:sp>
      <p:sp>
        <p:nvSpPr>
          <p:cNvPr id="45" name="Shape 31"/>
          <p:cNvSpPr/>
          <p:nvPr/>
        </p:nvSpPr>
        <p:spPr>
          <a:xfrm>
            <a:off x="6016752" y="4856770"/>
            <a:ext cx="5303520" cy="542109"/>
          </a:xfrm>
          <a:prstGeom prst="roundRect">
            <a:avLst>
              <a:gd name="adj" fmla="val 11807"/>
            </a:avLst>
          </a:prstGeom>
          <a:solidFill>
            <a:srgbClr val="1F1F1F"/>
          </a:solidFill>
          <a:ln/>
        </p:spPr>
      </p:sp>
      <p:sp>
        <p:nvSpPr>
          <p:cNvPr id="46" name="Shape 32"/>
          <p:cNvSpPr/>
          <p:nvPr/>
        </p:nvSpPr>
        <p:spPr>
          <a:xfrm>
            <a:off x="6144768" y="4939066"/>
            <a:ext cx="377517" cy="377517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47" name="Image 12" descr="pie_C2D82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35372" y="5029670"/>
            <a:ext cx="196309" cy="196309"/>
          </a:xfrm>
          <a:prstGeom prst="rect">
            <a:avLst/>
          </a:prstGeom>
        </p:spPr>
      </p:pic>
      <p:sp>
        <p:nvSpPr>
          <p:cNvPr id="48" name="Text 33"/>
          <p:cNvSpPr/>
          <p:nvPr/>
        </p:nvSpPr>
        <p:spPr>
          <a:xfrm>
            <a:off x="6705165" y="4856770"/>
            <a:ext cx="4477947" cy="54210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Personalized dashboard</a:t>
            </a:r>
            <a:endParaRPr lang="en-US" sz="1150" dirty="0"/>
          </a:p>
        </p:txBody>
      </p:sp>
      <p:sp>
        <p:nvSpPr>
          <p:cNvPr id="49" name="Shape 34"/>
          <p:cNvSpPr/>
          <p:nvPr/>
        </p:nvSpPr>
        <p:spPr>
          <a:xfrm>
            <a:off x="6016752" y="5490319"/>
            <a:ext cx="5303520" cy="542109"/>
          </a:xfrm>
          <a:prstGeom prst="roundRect">
            <a:avLst>
              <a:gd name="adj" fmla="val 11807"/>
            </a:avLst>
          </a:prstGeom>
          <a:solidFill>
            <a:srgbClr val="1F1F1F"/>
          </a:solidFill>
          <a:ln/>
        </p:spPr>
      </p:sp>
      <p:sp>
        <p:nvSpPr>
          <p:cNvPr id="50" name="Shape 35"/>
          <p:cNvSpPr/>
          <p:nvPr/>
        </p:nvSpPr>
        <p:spPr>
          <a:xfrm>
            <a:off x="6144768" y="5572615"/>
            <a:ext cx="377517" cy="377517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51" name="Image 13" descr="chart_C2D82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35372" y="5663219"/>
            <a:ext cx="196309" cy="196309"/>
          </a:xfrm>
          <a:prstGeom prst="rect">
            <a:avLst/>
          </a:prstGeom>
        </p:spPr>
      </p:pic>
      <p:sp>
        <p:nvSpPr>
          <p:cNvPr id="52" name="Text 36"/>
          <p:cNvSpPr/>
          <p:nvPr/>
        </p:nvSpPr>
        <p:spPr>
          <a:xfrm>
            <a:off x="6705165" y="5490319"/>
            <a:ext cx="4477947" cy="54210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decisions</a:t>
            </a:r>
            <a:endParaRPr lang="en-US" sz="1150" dirty="0"/>
          </a:p>
        </p:txBody>
      </p:sp>
      <p:sp>
        <p:nvSpPr>
          <p:cNvPr id="53" name="Shape 37"/>
          <p:cNvSpPr/>
          <p:nvPr/>
        </p:nvSpPr>
        <p:spPr>
          <a:xfrm>
            <a:off x="6016752" y="6123867"/>
            <a:ext cx="5303520" cy="542109"/>
          </a:xfrm>
          <a:prstGeom prst="roundRect">
            <a:avLst>
              <a:gd name="adj" fmla="val 11807"/>
            </a:avLst>
          </a:prstGeom>
          <a:solidFill>
            <a:srgbClr val="1F1F1F"/>
          </a:solidFill>
          <a:ln/>
        </p:spPr>
      </p:sp>
      <p:sp>
        <p:nvSpPr>
          <p:cNvPr id="54" name="Shape 38"/>
          <p:cNvSpPr/>
          <p:nvPr/>
        </p:nvSpPr>
        <p:spPr>
          <a:xfrm>
            <a:off x="6144768" y="6206163"/>
            <a:ext cx="377517" cy="377517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55" name="Image 14" descr="check_C2D82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235372" y="6296767"/>
            <a:ext cx="196309" cy="196309"/>
          </a:xfrm>
          <a:prstGeom prst="rect">
            <a:avLst/>
          </a:prstGeom>
        </p:spPr>
      </p:pic>
      <p:sp>
        <p:nvSpPr>
          <p:cNvPr id="56" name="Text 39"/>
          <p:cNvSpPr/>
          <p:nvPr/>
        </p:nvSpPr>
        <p:spPr>
          <a:xfrm>
            <a:off x="6705165" y="6123867"/>
            <a:ext cx="4477947" cy="54210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Suitable for all users</a:t>
            </a:r>
            <a:endParaRPr lang="en-US" sz="1150" dirty="0"/>
          </a:p>
        </p:txBody>
      </p:sp>
      <p:sp>
        <p:nvSpPr>
          <p:cNvPr id="57" name="Text 40"/>
          <p:cNvSpPr/>
          <p:nvPr/>
        </p:nvSpPr>
        <p:spPr>
          <a:xfrm>
            <a:off x="548640" y="652881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LEDGERELY  |  FEATURES OVERVIEW</a:t>
            </a:r>
            <a:endParaRPr lang="en-US" sz="900" dirty="0"/>
          </a:p>
        </p:txBody>
      </p:sp>
      <p:sp>
        <p:nvSpPr>
          <p:cNvPr id="58" name="Text 41"/>
          <p:cNvSpPr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pic>
        <p:nvPicPr>
          <p:cNvPr id="59" name="Image 0" descr="card_1A1A1A.png">
            <a:extLst>
              <a:ext uri="{FF2B5EF4-FFF2-40B4-BE49-F238E27FC236}">
                <a16:creationId xmlns:a16="http://schemas.microsoft.com/office/drawing/2014/main" id="{1C781675-14EA-25A7-7734-666B7F446A22}"/>
              </a:ext>
            </a:extLst>
          </p:cNvPr>
          <p:cNvPicPr>
            <a:picLocks noChangeAspect="1"/>
          </p:cNvPicPr>
          <p:nvPr/>
        </p:nvPicPr>
        <p:blipFill>
          <a:blip r:embed="rId15">
            <a:alphaModFix amt="10000"/>
          </a:blip>
          <a:stretch>
            <a:fillRect/>
          </a:stretch>
        </p:blipFill>
        <p:spPr>
          <a:xfrm rot="720000">
            <a:off x="9250345" y="274229"/>
            <a:ext cx="3108960" cy="3108960"/>
          </a:xfrm>
          <a:prstGeom prst="rect">
            <a:avLst/>
          </a:prstGeom>
          <a:effectLst>
            <a:glow rad="127000">
              <a:schemeClr val="tx1">
                <a:lumMod val="85000"/>
                <a:lumOff val="15000"/>
              </a:schemeClr>
            </a:glo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oney_1A1A1A.png"/>
          <p:cNvPicPr>
            <a:picLocks noChangeAspect="1"/>
          </p:cNvPicPr>
          <p:nvPr/>
        </p:nvPicPr>
        <p:blipFill>
          <a:blip r:embed="rId3">
            <a:alphaModFix amt="10000"/>
          </a:blip>
          <a:stretch>
            <a:fillRect/>
          </a:stretch>
        </p:blipFill>
        <p:spPr>
          <a:xfrm rot="600000">
            <a:off x="9345168" y="210312"/>
            <a:ext cx="2926080" cy="2926080"/>
          </a:xfrm>
          <a:prstGeom prst="rect">
            <a:avLst/>
          </a:prstGeom>
          <a:effectLst>
            <a:glow rad="127000">
              <a:schemeClr val="tx1">
                <a:lumMod val="85000"/>
                <a:lumOff val="15000"/>
              </a:schemeClr>
            </a:glow>
          </a:effectLst>
        </p:spPr>
      </p:pic>
      <p:pic>
        <p:nvPicPr>
          <p:cNvPr id="4" name="Image 2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11480"/>
            <a:ext cx="457200" cy="45720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097280" y="4114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LEDGERELY</a:t>
            </a:r>
            <a:endParaRPr lang="en-US" sz="1300" dirty="0"/>
          </a:p>
        </p:txBody>
      </p:sp>
      <p:sp>
        <p:nvSpPr>
          <p:cNvPr id="6" name="Text 1"/>
          <p:cNvSpPr/>
          <p:nvPr/>
        </p:nvSpPr>
        <p:spPr>
          <a:xfrm>
            <a:off x="548640" y="1051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C2D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03</a:t>
            </a:r>
            <a:endParaRPr lang="en-US" sz="1250" dirty="0"/>
          </a:p>
        </p:txBody>
      </p:sp>
      <p:sp>
        <p:nvSpPr>
          <p:cNvPr id="7" name="Text 2"/>
          <p:cNvSpPr/>
          <p:nvPr/>
        </p:nvSpPr>
        <p:spPr>
          <a:xfrm>
            <a:off x="548640" y="1353312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Features</a:t>
            </a:r>
            <a:endParaRPr lang="en-US" sz="3000" dirty="0"/>
          </a:p>
        </p:txBody>
      </p:sp>
      <p:sp>
        <p:nvSpPr>
          <p:cNvPr id="8" name="Text 3"/>
          <p:cNvSpPr/>
          <p:nvPr/>
        </p:nvSpPr>
        <p:spPr>
          <a:xfrm>
            <a:off x="548640" y="196596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D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Ledgerely is built as a Progressive Web App (PWA) — installable, fast, and fully functional even offline.</a:t>
            </a:r>
            <a:endParaRPr lang="en-US" sz="1250" dirty="0"/>
          </a:p>
        </p:txBody>
      </p:sp>
      <p:sp>
        <p:nvSpPr>
          <p:cNvPr id="9" name="Shape 4"/>
          <p:cNvSpPr/>
          <p:nvPr/>
        </p:nvSpPr>
        <p:spPr>
          <a:xfrm>
            <a:off x="548640" y="2606040"/>
            <a:ext cx="2121408" cy="1874520"/>
          </a:xfrm>
          <a:prstGeom prst="roundRect">
            <a:avLst>
              <a:gd name="adj" fmla="val 4390"/>
            </a:avLst>
          </a:prstGeom>
          <a:solidFill>
            <a:srgbClr val="1F1F1F"/>
          </a:solidFill>
          <a:ln/>
        </p:spPr>
      </p:sp>
      <p:sp>
        <p:nvSpPr>
          <p:cNvPr id="10" name="Shape 5"/>
          <p:cNvSpPr/>
          <p:nvPr/>
        </p:nvSpPr>
        <p:spPr>
          <a:xfrm>
            <a:off x="749808" y="2807208"/>
            <a:ext cx="457200" cy="457200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11" name="Image 3" descr="mobile_C2D82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" y="2916936"/>
            <a:ext cx="237744" cy="237744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731520" y="3383280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PWA</a:t>
            </a:r>
            <a:endParaRPr lang="en-US" sz="1250" dirty="0"/>
          </a:p>
        </p:txBody>
      </p:sp>
      <p:sp>
        <p:nvSpPr>
          <p:cNvPr id="13" name="Text 7"/>
          <p:cNvSpPr/>
          <p:nvPr/>
        </p:nvSpPr>
        <p:spPr>
          <a:xfrm>
            <a:off x="731520" y="3840480"/>
            <a:ext cx="175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Progressive Web App</a:t>
            </a:r>
            <a:endParaRPr lang="en-US" sz="950" dirty="0"/>
          </a:p>
        </p:txBody>
      </p:sp>
      <p:sp>
        <p:nvSpPr>
          <p:cNvPr id="14" name="Shape 8"/>
          <p:cNvSpPr/>
          <p:nvPr/>
        </p:nvSpPr>
        <p:spPr>
          <a:xfrm>
            <a:off x="2807208" y="2606040"/>
            <a:ext cx="2121408" cy="1874520"/>
          </a:xfrm>
          <a:prstGeom prst="roundRect">
            <a:avLst>
              <a:gd name="adj" fmla="val 4390"/>
            </a:avLst>
          </a:prstGeom>
          <a:solidFill>
            <a:srgbClr val="1F1F1F"/>
          </a:solidFill>
          <a:ln/>
        </p:spPr>
      </p:sp>
      <p:sp>
        <p:nvSpPr>
          <p:cNvPr id="15" name="Shape 9"/>
          <p:cNvSpPr/>
          <p:nvPr/>
        </p:nvSpPr>
        <p:spPr>
          <a:xfrm>
            <a:off x="3008376" y="2807208"/>
            <a:ext cx="457200" cy="457200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16" name="Image 4" descr="desktop_C2D82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18104" y="2916936"/>
            <a:ext cx="237744" cy="237744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2990088" y="3383280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Browser based</a:t>
            </a:r>
            <a:endParaRPr lang="en-US" sz="1250" dirty="0"/>
          </a:p>
        </p:txBody>
      </p:sp>
      <p:sp>
        <p:nvSpPr>
          <p:cNvPr id="18" name="Text 11"/>
          <p:cNvSpPr/>
          <p:nvPr/>
        </p:nvSpPr>
        <p:spPr>
          <a:xfrm>
            <a:off x="2990088" y="3840480"/>
            <a:ext cx="175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https connection</a:t>
            </a:r>
            <a:endParaRPr lang="en-US" sz="950" dirty="0"/>
          </a:p>
        </p:txBody>
      </p:sp>
      <p:sp>
        <p:nvSpPr>
          <p:cNvPr id="19" name="Shape 12"/>
          <p:cNvSpPr/>
          <p:nvPr/>
        </p:nvSpPr>
        <p:spPr>
          <a:xfrm>
            <a:off x="5065776" y="2606040"/>
            <a:ext cx="2121408" cy="1874520"/>
          </a:xfrm>
          <a:prstGeom prst="roundRect">
            <a:avLst>
              <a:gd name="adj" fmla="val 4390"/>
            </a:avLst>
          </a:prstGeom>
          <a:solidFill>
            <a:srgbClr val="1F1F1F"/>
          </a:solidFill>
          <a:ln/>
        </p:spPr>
      </p:sp>
      <p:sp>
        <p:nvSpPr>
          <p:cNvPr id="20" name="Shape 13"/>
          <p:cNvSpPr/>
          <p:nvPr/>
        </p:nvSpPr>
        <p:spPr>
          <a:xfrm>
            <a:off x="5266944" y="2807208"/>
            <a:ext cx="457200" cy="457200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21" name="Image 5" descr="wifi_C2D82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76672" y="2916936"/>
            <a:ext cx="237744" cy="237744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5248656" y="3383280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Offline Support</a:t>
            </a:r>
            <a:endParaRPr lang="en-US" sz="1250" dirty="0"/>
          </a:p>
        </p:txBody>
      </p:sp>
      <p:sp>
        <p:nvSpPr>
          <p:cNvPr id="23" name="Text 15"/>
          <p:cNvSpPr/>
          <p:nvPr/>
        </p:nvSpPr>
        <p:spPr>
          <a:xfrm>
            <a:off x="5248656" y="3840480"/>
            <a:ext cx="175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worker </a:t>
            </a:r>
            <a:r>
              <a:rPr lang="en-US" sz="95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IndexedDB + </a:t>
            </a:r>
            <a:r>
              <a:rPr lang="en-US" sz="950" dirty="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</a:t>
            </a:r>
            <a:endParaRPr lang="en-US" sz="950" dirty="0"/>
          </a:p>
        </p:txBody>
      </p:sp>
      <p:sp>
        <p:nvSpPr>
          <p:cNvPr id="24" name="Shape 16"/>
          <p:cNvSpPr/>
          <p:nvPr/>
        </p:nvSpPr>
        <p:spPr>
          <a:xfrm>
            <a:off x="7324344" y="2606040"/>
            <a:ext cx="2121408" cy="1874520"/>
          </a:xfrm>
          <a:prstGeom prst="roundRect">
            <a:avLst>
              <a:gd name="adj" fmla="val 4390"/>
            </a:avLst>
          </a:prstGeom>
          <a:solidFill>
            <a:srgbClr val="1F1F1F"/>
          </a:solidFill>
          <a:ln/>
        </p:spPr>
      </p:sp>
      <p:sp>
        <p:nvSpPr>
          <p:cNvPr id="25" name="Shape 17"/>
          <p:cNvSpPr/>
          <p:nvPr/>
        </p:nvSpPr>
        <p:spPr>
          <a:xfrm>
            <a:off x="7525512" y="2807208"/>
            <a:ext cx="457200" cy="457200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26" name="Image 6" descr="bolt_C2D82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35240" y="2916936"/>
            <a:ext cx="237744" cy="237744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7507224" y="3383280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Fast Loading</a:t>
            </a:r>
            <a:endParaRPr lang="en-US" sz="1250" dirty="0"/>
          </a:p>
        </p:txBody>
      </p:sp>
      <p:sp>
        <p:nvSpPr>
          <p:cNvPr id="28" name="Text 19"/>
          <p:cNvSpPr/>
          <p:nvPr/>
        </p:nvSpPr>
        <p:spPr>
          <a:xfrm>
            <a:off x="7507224" y="3840480"/>
            <a:ext cx="175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Cached assets</a:t>
            </a:r>
            <a:endParaRPr lang="en-US" sz="950" dirty="0"/>
          </a:p>
        </p:txBody>
      </p:sp>
      <p:sp>
        <p:nvSpPr>
          <p:cNvPr id="29" name="Shape 20"/>
          <p:cNvSpPr/>
          <p:nvPr/>
        </p:nvSpPr>
        <p:spPr>
          <a:xfrm>
            <a:off x="9582912" y="2606040"/>
            <a:ext cx="2121408" cy="1874520"/>
          </a:xfrm>
          <a:prstGeom prst="roundRect">
            <a:avLst>
              <a:gd name="adj" fmla="val 4390"/>
            </a:avLst>
          </a:prstGeom>
          <a:solidFill>
            <a:srgbClr val="1F1F1F"/>
          </a:solidFill>
          <a:ln/>
        </p:spPr>
      </p:sp>
      <p:sp>
        <p:nvSpPr>
          <p:cNvPr id="30" name="Shape 21"/>
          <p:cNvSpPr/>
          <p:nvPr/>
        </p:nvSpPr>
        <p:spPr>
          <a:xfrm>
            <a:off x="9784080" y="2807208"/>
            <a:ext cx="457200" cy="457200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31" name="Image 7" descr="desktop_C2D82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93808" y="2916936"/>
            <a:ext cx="237744" cy="237744"/>
          </a:xfrm>
          <a:prstGeom prst="rect">
            <a:avLst/>
          </a:prstGeom>
        </p:spPr>
      </p:pic>
      <p:sp>
        <p:nvSpPr>
          <p:cNvPr id="32" name="Text 22"/>
          <p:cNvSpPr/>
          <p:nvPr/>
        </p:nvSpPr>
        <p:spPr>
          <a:xfrm>
            <a:off x="9765792" y="3383280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Responsive Design</a:t>
            </a:r>
            <a:endParaRPr lang="en-US" sz="1250" dirty="0"/>
          </a:p>
        </p:txBody>
      </p:sp>
      <p:sp>
        <p:nvSpPr>
          <p:cNvPr id="33" name="Text 23"/>
          <p:cNvSpPr/>
          <p:nvPr/>
        </p:nvSpPr>
        <p:spPr>
          <a:xfrm>
            <a:off x="9765792" y="3840480"/>
            <a:ext cx="175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tool demo</a:t>
            </a:r>
            <a:endParaRPr lang="en-US" sz="950" dirty="0"/>
          </a:p>
        </p:txBody>
      </p:sp>
      <p:sp>
        <p:nvSpPr>
          <p:cNvPr id="34" name="Shape 24"/>
          <p:cNvSpPr/>
          <p:nvPr/>
        </p:nvSpPr>
        <p:spPr>
          <a:xfrm>
            <a:off x="548640" y="4663440"/>
            <a:ext cx="2121408" cy="1874520"/>
          </a:xfrm>
          <a:prstGeom prst="roundRect">
            <a:avLst>
              <a:gd name="adj" fmla="val 4390"/>
            </a:avLst>
          </a:prstGeom>
          <a:solidFill>
            <a:srgbClr val="1F1F1F"/>
          </a:solidFill>
          <a:ln/>
        </p:spPr>
      </p:sp>
      <p:sp>
        <p:nvSpPr>
          <p:cNvPr id="35" name="Shape 25"/>
          <p:cNvSpPr/>
          <p:nvPr/>
        </p:nvSpPr>
        <p:spPr>
          <a:xfrm>
            <a:off x="749808" y="4864608"/>
            <a:ext cx="457200" cy="457200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36" name="Image 8" descr="lock_C2D82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9536" y="4974336"/>
            <a:ext cx="237744" cy="237744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31520" y="5440680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HTTPS Ready</a:t>
            </a:r>
            <a:endParaRPr lang="en-US" sz="1250" dirty="0"/>
          </a:p>
        </p:txBody>
      </p:sp>
      <p:sp>
        <p:nvSpPr>
          <p:cNvPr id="38" name="Text 27"/>
          <p:cNvSpPr/>
          <p:nvPr/>
        </p:nvSpPr>
        <p:spPr>
          <a:xfrm>
            <a:off x="731520" y="5897880"/>
            <a:ext cx="175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by default</a:t>
            </a:r>
            <a:endParaRPr lang="en-US" sz="950" dirty="0"/>
          </a:p>
        </p:txBody>
      </p:sp>
      <p:sp>
        <p:nvSpPr>
          <p:cNvPr id="39" name="Shape 28"/>
          <p:cNvSpPr/>
          <p:nvPr/>
        </p:nvSpPr>
        <p:spPr>
          <a:xfrm>
            <a:off x="2807208" y="4663440"/>
            <a:ext cx="2121408" cy="1874520"/>
          </a:xfrm>
          <a:prstGeom prst="roundRect">
            <a:avLst>
              <a:gd name="adj" fmla="val 4390"/>
            </a:avLst>
          </a:prstGeom>
          <a:solidFill>
            <a:srgbClr val="1F1F1F"/>
          </a:solidFill>
          <a:ln/>
        </p:spPr>
      </p:sp>
      <p:sp>
        <p:nvSpPr>
          <p:cNvPr id="40" name="Shape 29"/>
          <p:cNvSpPr/>
          <p:nvPr/>
        </p:nvSpPr>
        <p:spPr>
          <a:xfrm>
            <a:off x="3008376" y="4864608"/>
            <a:ext cx="457200" cy="457200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41" name="Image 9" descr="mobile_C2D82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8104" y="4974336"/>
            <a:ext cx="237744" cy="237744"/>
          </a:xfrm>
          <a:prstGeom prst="rect">
            <a:avLst/>
          </a:prstGeom>
        </p:spPr>
      </p:pic>
      <p:sp>
        <p:nvSpPr>
          <p:cNvPr id="42" name="Text 30"/>
          <p:cNvSpPr/>
          <p:nvPr/>
        </p:nvSpPr>
        <p:spPr>
          <a:xfrm>
            <a:off x="2990088" y="5440680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App-Like Experience</a:t>
            </a:r>
            <a:endParaRPr lang="en-US" sz="1250" dirty="0"/>
          </a:p>
        </p:txBody>
      </p:sp>
      <p:sp>
        <p:nvSpPr>
          <p:cNvPr id="43" name="Text 31"/>
          <p:cNvSpPr/>
          <p:nvPr/>
        </p:nvSpPr>
        <p:spPr>
          <a:xfrm>
            <a:off x="2990088" y="5897880"/>
            <a:ext cx="175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browser portal</a:t>
            </a:r>
            <a:endParaRPr lang="en-US" sz="950" dirty="0"/>
          </a:p>
        </p:txBody>
      </p:sp>
      <p:sp>
        <p:nvSpPr>
          <p:cNvPr id="44" name="Shape 32"/>
          <p:cNvSpPr/>
          <p:nvPr/>
        </p:nvSpPr>
        <p:spPr>
          <a:xfrm>
            <a:off x="5065776" y="4663440"/>
            <a:ext cx="2121408" cy="1874520"/>
          </a:xfrm>
          <a:prstGeom prst="roundRect">
            <a:avLst>
              <a:gd name="adj" fmla="val 4390"/>
            </a:avLst>
          </a:prstGeom>
          <a:solidFill>
            <a:srgbClr val="1F1F1F"/>
          </a:solidFill>
          <a:ln/>
        </p:spPr>
      </p:sp>
      <p:sp>
        <p:nvSpPr>
          <p:cNvPr id="45" name="Shape 33"/>
          <p:cNvSpPr/>
          <p:nvPr/>
        </p:nvSpPr>
        <p:spPr>
          <a:xfrm>
            <a:off x="5266944" y="4864608"/>
            <a:ext cx="457200" cy="457200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46" name="Image 10" descr="sync_C2D82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76672" y="4974336"/>
            <a:ext cx="237744" cy="237744"/>
          </a:xfrm>
          <a:prstGeom prst="rect">
            <a:avLst/>
          </a:prstGeom>
        </p:spPr>
      </p:pic>
      <p:sp>
        <p:nvSpPr>
          <p:cNvPr id="47" name="Text 34"/>
          <p:cNvSpPr/>
          <p:nvPr/>
        </p:nvSpPr>
        <p:spPr>
          <a:xfrm>
            <a:off x="5248656" y="5440680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Automatic Updates</a:t>
            </a:r>
            <a:endParaRPr lang="en-US" sz="1250" dirty="0"/>
          </a:p>
        </p:txBody>
      </p:sp>
      <p:sp>
        <p:nvSpPr>
          <p:cNvPr id="48" name="Text 35"/>
          <p:cNvSpPr/>
          <p:nvPr/>
        </p:nvSpPr>
        <p:spPr>
          <a:xfrm>
            <a:off x="5248656" y="5897880"/>
            <a:ext cx="175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update notification</a:t>
            </a:r>
            <a:endParaRPr lang="en-US" sz="950" dirty="0"/>
          </a:p>
        </p:txBody>
      </p:sp>
      <p:sp>
        <p:nvSpPr>
          <p:cNvPr id="49" name="Shape 36"/>
          <p:cNvSpPr/>
          <p:nvPr/>
        </p:nvSpPr>
        <p:spPr>
          <a:xfrm>
            <a:off x="7324344" y="4663440"/>
            <a:ext cx="2121408" cy="1874520"/>
          </a:xfrm>
          <a:prstGeom prst="roundRect">
            <a:avLst>
              <a:gd name="adj" fmla="val 4390"/>
            </a:avLst>
          </a:prstGeom>
          <a:solidFill>
            <a:srgbClr val="1F1F1F"/>
          </a:solidFill>
          <a:ln/>
        </p:spPr>
      </p:sp>
      <p:sp>
        <p:nvSpPr>
          <p:cNvPr id="50" name="Shape 37"/>
          <p:cNvSpPr/>
          <p:nvPr/>
        </p:nvSpPr>
        <p:spPr>
          <a:xfrm>
            <a:off x="7525512" y="4864608"/>
            <a:ext cx="457200" cy="457200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51" name="Image 11" descr="cloud_C2D82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35240" y="4974336"/>
            <a:ext cx="237744" cy="237744"/>
          </a:xfrm>
          <a:prstGeom prst="rect">
            <a:avLst/>
          </a:prstGeom>
        </p:spPr>
      </p:pic>
      <p:sp>
        <p:nvSpPr>
          <p:cNvPr id="52" name="Text 38"/>
          <p:cNvSpPr/>
          <p:nvPr/>
        </p:nvSpPr>
        <p:spPr>
          <a:xfrm>
            <a:off x="7507224" y="5440680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Background Sync</a:t>
            </a:r>
            <a:endParaRPr lang="en-US" sz="1250" dirty="0"/>
          </a:p>
        </p:txBody>
      </p:sp>
      <p:sp>
        <p:nvSpPr>
          <p:cNvPr id="53" name="Text 39"/>
          <p:cNvSpPr/>
          <p:nvPr/>
        </p:nvSpPr>
        <p:spPr>
          <a:xfrm>
            <a:off x="7507224" y="5897880"/>
            <a:ext cx="175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queue while offline</a:t>
            </a:r>
            <a:endParaRPr lang="en-US" sz="950" dirty="0"/>
          </a:p>
        </p:txBody>
      </p:sp>
      <p:sp>
        <p:nvSpPr>
          <p:cNvPr id="54" name="Shape 40"/>
          <p:cNvSpPr/>
          <p:nvPr/>
        </p:nvSpPr>
        <p:spPr>
          <a:xfrm>
            <a:off x="9582912" y="4663440"/>
            <a:ext cx="2121408" cy="1874520"/>
          </a:xfrm>
          <a:prstGeom prst="roundRect">
            <a:avLst>
              <a:gd name="adj" fmla="val 4390"/>
            </a:avLst>
          </a:prstGeom>
          <a:solidFill>
            <a:srgbClr val="1F1F1F"/>
          </a:solidFill>
          <a:ln/>
        </p:spPr>
      </p:sp>
      <p:sp>
        <p:nvSpPr>
          <p:cNvPr id="55" name="Shape 41"/>
          <p:cNvSpPr/>
          <p:nvPr/>
        </p:nvSpPr>
        <p:spPr>
          <a:xfrm>
            <a:off x="9784080" y="4864608"/>
            <a:ext cx="457200" cy="457200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56" name="Image 12" descr="home_C2D82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893808" y="4974336"/>
            <a:ext cx="237744" cy="237744"/>
          </a:xfrm>
          <a:prstGeom prst="rect">
            <a:avLst/>
          </a:prstGeom>
        </p:spPr>
      </p:pic>
      <p:sp>
        <p:nvSpPr>
          <p:cNvPr id="57" name="Text 42"/>
          <p:cNvSpPr/>
          <p:nvPr/>
        </p:nvSpPr>
        <p:spPr>
          <a:xfrm>
            <a:off x="9765792" y="5440680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Home Screen</a:t>
            </a:r>
            <a:endParaRPr lang="en-US" sz="1250" dirty="0"/>
          </a:p>
        </p:txBody>
      </p:sp>
      <p:sp>
        <p:nvSpPr>
          <p:cNvPr id="58" name="Text 43"/>
          <p:cNvSpPr/>
          <p:nvPr/>
        </p:nvSpPr>
        <p:spPr>
          <a:xfrm>
            <a:off x="9765792" y="5897880"/>
            <a:ext cx="175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like a native app</a:t>
            </a:r>
            <a:endParaRPr lang="en-US" sz="950" dirty="0"/>
          </a:p>
        </p:txBody>
      </p:sp>
      <p:sp>
        <p:nvSpPr>
          <p:cNvPr id="59" name="Text 44"/>
          <p:cNvSpPr/>
          <p:nvPr/>
        </p:nvSpPr>
        <p:spPr>
          <a:xfrm>
            <a:off x="548640" y="652881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LEDGERELY  |  FEATURES OVERVIEW</a:t>
            </a:r>
            <a:endParaRPr lang="en-US" sz="900" dirty="0"/>
          </a:p>
        </p:txBody>
      </p:sp>
      <p:sp>
        <p:nvSpPr>
          <p:cNvPr id="60" name="Text 45"/>
          <p:cNvSpPr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6C7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LEDGERELY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7772400" cy="731520"/>
          </a:xfrm>
          <a:prstGeom prst="rect">
            <a:avLst/>
          </a:prstGeom>
          <a:solidFill>
            <a:schemeClr val="tx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2D8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Smarter Way to Track Money</a:t>
            </a:r>
            <a:endParaRPr lang="en-US" sz="3000" dirty="0">
              <a:solidFill>
                <a:srgbClr val="C2D82E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6035040" cy="1188720"/>
          </a:xfrm>
          <a:prstGeom prst="rect">
            <a:avLst/>
          </a:prstGeom>
          <a:solidFill>
            <a:schemeClr val="tx1"/>
          </a:solidFill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5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Ledgerely is an AI-powered personal finance app that connects bank accounts and cards, categorizes spending automatically, and matches users with financial goals tailored to their habits.</a:t>
            </a:r>
            <a:endParaRPr lang="en-US" sz="1350" dirty="0">
              <a:solidFill>
                <a:schemeClr val="bg2"/>
              </a:solidFill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3063240"/>
            <a:ext cx="3291840" cy="2834640"/>
          </a:xfrm>
          <a:prstGeom prst="roundRect">
            <a:avLst>
              <a:gd name="adj" fmla="val 3871"/>
            </a:avLst>
          </a:prstGeom>
          <a:solidFill>
            <a:srgbClr val="F7F8EE"/>
          </a:solidFill>
          <a:ln/>
          <a:effectLst>
            <a:outerShdw blurRad="76200" dist="25400" dir="5400000" algn="bl" rotWithShape="0">
              <a:srgbClr val="999999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3383280"/>
            <a:ext cx="685800" cy="685800"/>
          </a:xfrm>
          <a:prstGeom prst="ellipse">
            <a:avLst/>
          </a:prstGeom>
          <a:solidFill>
            <a:srgbClr val="0A0A0A"/>
          </a:solidFill>
          <a:ln/>
        </p:spPr>
      </p:sp>
      <p:pic>
        <p:nvPicPr>
          <p:cNvPr id="7" name="Image 0" descr="bank_C2D8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3557016"/>
            <a:ext cx="649224" cy="64922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8680" y="42519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0A0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Connect Accounts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68680" y="4663440"/>
            <a:ext cx="2651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Securely setup </a:t>
            </a:r>
            <a:r>
              <a:rPr lang="en-US" sz="11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banks and cards in minutes.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160520" y="3063240"/>
            <a:ext cx="3291840" cy="2834640"/>
          </a:xfrm>
          <a:prstGeom prst="roundRect">
            <a:avLst>
              <a:gd name="adj" fmla="val 3871"/>
            </a:avLst>
          </a:prstGeom>
          <a:solidFill>
            <a:srgbClr val="F7F8EE"/>
          </a:solidFill>
          <a:ln/>
          <a:effectLst>
            <a:outerShdw blurRad="76200" dist="25400" dir="5400000" algn="bl" rotWithShape="0">
              <a:srgbClr val="999999">
                <a:alpha val="2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480560" y="3383280"/>
            <a:ext cx="685800" cy="685800"/>
          </a:xfrm>
          <a:prstGeom prst="ellipse">
            <a:avLst/>
          </a:prstGeom>
          <a:solidFill>
            <a:srgbClr val="0A0A0A"/>
          </a:solidFill>
          <a:ln/>
        </p:spPr>
      </p:sp>
      <p:pic>
        <p:nvPicPr>
          <p:cNvPr id="12" name="Image 1" descr="robot_C2D82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4296" y="3557016"/>
            <a:ext cx="685800" cy="6858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480560" y="42519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0A0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AI Matching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4480560" y="4663440"/>
            <a:ext cx="2651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suggestions matched to real spending habits.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7772400" y="3063240"/>
            <a:ext cx="3291840" cy="2834640"/>
          </a:xfrm>
          <a:prstGeom prst="roundRect">
            <a:avLst>
              <a:gd name="adj" fmla="val 3871"/>
            </a:avLst>
          </a:prstGeom>
          <a:solidFill>
            <a:srgbClr val="F7F8EE"/>
          </a:solidFill>
          <a:ln/>
          <a:effectLst>
            <a:outerShdw blurRad="76200" dist="25400" dir="5400000" algn="bl" rotWithShape="0">
              <a:srgbClr val="999999">
                <a:alpha val="2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092440" y="3383280"/>
            <a:ext cx="685800" cy="685800"/>
          </a:xfrm>
          <a:prstGeom prst="ellipse">
            <a:avLst/>
          </a:prstGeom>
          <a:solidFill>
            <a:srgbClr val="0A0A0A"/>
          </a:solidFill>
          <a:ln/>
        </p:spPr>
      </p:sp>
      <p:pic>
        <p:nvPicPr>
          <p:cNvPr id="17" name="Image 2" descr="goal_C2D82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66175" y="3557015"/>
            <a:ext cx="685799" cy="685799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092440" y="42519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0A0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Set Plans &amp; Goals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8092440" y="4663440"/>
            <a:ext cx="2651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savings and budget goals that adapt over time.</a:t>
            </a:r>
            <a:endParaRPr lang="en-US" sz="1150" dirty="0"/>
          </a:p>
        </p:txBody>
      </p:sp>
      <p:sp>
        <p:nvSpPr>
          <p:cNvPr id="20" name="Text 15"/>
          <p:cNvSpPr/>
          <p:nvPr/>
        </p:nvSpPr>
        <p:spPr>
          <a:xfrm>
            <a:off x="457200" y="652881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8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LEDGERELY  |  TUTOR GUIDE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pic>
        <p:nvPicPr>
          <p:cNvPr id="22" name="Image 0" descr="money_1A1A1A.png">
            <a:extLst>
              <a:ext uri="{FF2B5EF4-FFF2-40B4-BE49-F238E27FC236}">
                <a16:creationId xmlns:a16="http://schemas.microsoft.com/office/drawing/2014/main" id="{3A2F0A56-1EC5-FE32-6EC4-3AC03D104804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10000"/>
          </a:blip>
          <a:stretch>
            <a:fillRect/>
          </a:stretch>
        </p:blipFill>
        <p:spPr>
          <a:xfrm rot="600000">
            <a:off x="9183801" y="271092"/>
            <a:ext cx="2926080" cy="2926080"/>
          </a:xfrm>
          <a:prstGeom prst="rect">
            <a:avLst/>
          </a:prstGeom>
          <a:effectLst>
            <a:glow rad="127000">
              <a:schemeClr val="tx1">
                <a:lumMod val="85000"/>
                <a:lumOff val="15000"/>
              </a:schemeClr>
            </a:glo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obile_1A1A1A.png"/>
          <p:cNvPicPr>
            <a:picLocks noChangeAspect="1"/>
          </p:cNvPicPr>
          <p:nvPr/>
        </p:nvPicPr>
        <p:blipFill>
          <a:blip r:embed="rId3">
            <a:alphaModFix amt="10000"/>
          </a:blip>
          <a:stretch>
            <a:fillRect/>
          </a:stretch>
        </p:blipFill>
        <p:spPr>
          <a:xfrm rot="600000">
            <a:off x="9692640" y="-914400"/>
            <a:ext cx="3108960" cy="3108960"/>
          </a:xfrm>
          <a:prstGeom prst="rect">
            <a:avLst/>
          </a:prstGeom>
        </p:spPr>
      </p:pic>
      <p:pic>
        <p:nvPicPr>
          <p:cNvPr id="3" name="Image 1" descr="mobile_1A1A1A.png"/>
          <p:cNvPicPr>
            <a:picLocks noChangeAspect="1"/>
          </p:cNvPicPr>
          <p:nvPr/>
        </p:nvPicPr>
        <p:blipFill>
          <a:blip r:embed="rId3">
            <a:alphaModFix amt="10000"/>
          </a:blip>
          <a:stretch>
            <a:fillRect/>
          </a:stretch>
        </p:blipFill>
        <p:spPr>
          <a:xfrm rot="-720000">
            <a:off x="-1005840" y="4572000"/>
            <a:ext cx="2743200" cy="27432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2D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</a:t>
            </a:r>
            <a:endParaRPr lang="en-US" sz="1300" dirty="0"/>
          </a:p>
        </p:txBody>
      </p:sp>
      <p:sp>
        <p:nvSpPr>
          <p:cNvPr id="5" name="Text 1"/>
          <p:cNvSpPr/>
          <p:nvPr/>
        </p:nvSpPr>
        <p:spPr>
          <a:xfrm>
            <a:off x="548640" y="777240"/>
            <a:ext cx="8686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Setting Up a New Account</a:t>
            </a:r>
            <a:endParaRPr lang="en-US" sz="3000" dirty="0"/>
          </a:p>
        </p:txBody>
      </p:sp>
      <p:sp>
        <p:nvSpPr>
          <p:cNvPr id="6" name="Shape 2"/>
          <p:cNvSpPr/>
          <p:nvPr/>
        </p:nvSpPr>
        <p:spPr>
          <a:xfrm>
            <a:off x="548640" y="1874520"/>
            <a:ext cx="10607040" cy="1051560"/>
          </a:xfrm>
          <a:prstGeom prst="roundRect">
            <a:avLst>
              <a:gd name="adj" fmla="val 8696"/>
            </a:avLst>
          </a:prstGeom>
          <a:solidFill>
            <a:srgbClr val="1F1F1F"/>
          </a:solidFill>
          <a:ln/>
        </p:spPr>
      </p:sp>
      <p:sp>
        <p:nvSpPr>
          <p:cNvPr id="7" name="Text 3"/>
          <p:cNvSpPr/>
          <p:nvPr/>
        </p:nvSpPr>
        <p:spPr>
          <a:xfrm>
            <a:off x="822960" y="1874520"/>
            <a:ext cx="9144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2D8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01</a:t>
            </a:r>
            <a:endParaRPr lang="en-US" sz="2600" dirty="0"/>
          </a:p>
        </p:txBody>
      </p:sp>
      <p:sp>
        <p:nvSpPr>
          <p:cNvPr id="8" name="Text 4"/>
          <p:cNvSpPr/>
          <p:nvPr/>
        </p:nvSpPr>
        <p:spPr>
          <a:xfrm>
            <a:off x="1920240" y="2164079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Sign </a:t>
            </a:r>
            <a:r>
              <a:rPr lang="en-US" sz="14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Up</a:t>
            </a:r>
            <a:endParaRPr lang="en-US" sz="1450" dirty="0"/>
          </a:p>
        </p:txBody>
      </p:sp>
      <p:sp>
        <p:nvSpPr>
          <p:cNvPr id="9" name="Text 5"/>
          <p:cNvSpPr/>
          <p:nvPr/>
        </p:nvSpPr>
        <p:spPr>
          <a:xfrm>
            <a:off x="5120640" y="1984248"/>
            <a:ext cx="5806440" cy="8321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>
                <a:solidFill>
                  <a:srgbClr val="C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 </a:t>
            </a:r>
            <a:r>
              <a:rPr lang="en-US" sz="1150" dirty="0">
                <a:solidFill>
                  <a:srgbClr val="C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Ledgerely </a:t>
            </a:r>
            <a:r>
              <a:rPr lang="en-US" sz="1150">
                <a:solidFill>
                  <a:srgbClr val="C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Google, </a:t>
            </a:r>
            <a:r>
              <a:rPr lang="en-US" sz="1150" dirty="0">
                <a:solidFill>
                  <a:srgbClr val="C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create an account with an email address.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548640" y="3063240"/>
            <a:ext cx="10607040" cy="1051560"/>
          </a:xfrm>
          <a:prstGeom prst="roundRect">
            <a:avLst>
              <a:gd name="adj" fmla="val 8696"/>
            </a:avLst>
          </a:prstGeom>
          <a:solidFill>
            <a:srgbClr val="1F1F1F"/>
          </a:solidFill>
          <a:ln/>
        </p:spPr>
      </p:sp>
      <p:sp>
        <p:nvSpPr>
          <p:cNvPr id="11" name="Text 7"/>
          <p:cNvSpPr/>
          <p:nvPr/>
        </p:nvSpPr>
        <p:spPr>
          <a:xfrm>
            <a:off x="822960" y="3063240"/>
            <a:ext cx="9144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2D8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02</a:t>
            </a:r>
            <a:endParaRPr lang="en-US" sz="2600" dirty="0"/>
          </a:p>
        </p:txBody>
      </p:sp>
      <p:sp>
        <p:nvSpPr>
          <p:cNvPr id="12" name="Text 8"/>
          <p:cNvSpPr/>
          <p:nvPr/>
        </p:nvSpPr>
        <p:spPr>
          <a:xfrm>
            <a:off x="1920240" y="3352803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Verify Identity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5120640" y="3172968"/>
            <a:ext cx="5806440" cy="8321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email and set a secure password to protect financial data.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48640" y="4251960"/>
            <a:ext cx="10607040" cy="1051560"/>
          </a:xfrm>
          <a:prstGeom prst="roundRect">
            <a:avLst>
              <a:gd name="adj" fmla="val 8696"/>
            </a:avLst>
          </a:prstGeom>
          <a:solidFill>
            <a:srgbClr val="1F1F1F"/>
          </a:solidFill>
          <a:ln/>
        </p:spPr>
      </p:sp>
      <p:sp>
        <p:nvSpPr>
          <p:cNvPr id="15" name="Text 11"/>
          <p:cNvSpPr/>
          <p:nvPr/>
        </p:nvSpPr>
        <p:spPr>
          <a:xfrm>
            <a:off x="822960" y="4251960"/>
            <a:ext cx="9144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2D8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03</a:t>
            </a:r>
            <a:endParaRPr lang="en-US" sz="2600" dirty="0"/>
          </a:p>
        </p:txBody>
      </p:sp>
      <p:sp>
        <p:nvSpPr>
          <p:cNvPr id="16" name="Text 12"/>
          <p:cNvSpPr/>
          <p:nvPr/>
        </p:nvSpPr>
        <p:spPr>
          <a:xfrm>
            <a:off x="1920240" y="4530637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Connect a Bank or Card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5120640" y="4361688"/>
            <a:ext cx="5806440" cy="8321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</a:t>
            </a:r>
            <a:r>
              <a:rPr lang="en-US" sz="1150">
                <a:solidFill>
                  <a:srgbClr val="C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setup </a:t>
            </a:r>
            <a:r>
              <a:rPr lang="en-US" sz="1150" dirty="0">
                <a:solidFill>
                  <a:srgbClr val="C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</a:t>
            </a:r>
            <a:r>
              <a:rPr lang="en-US" sz="1150">
                <a:solidFill>
                  <a:srgbClr val="C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configure </a:t>
            </a:r>
            <a:r>
              <a:rPr lang="en-US" sz="1150" dirty="0">
                <a:solidFill>
                  <a:srgbClr val="C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checking account or credit card.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548640" y="5440680"/>
            <a:ext cx="10607040" cy="1051560"/>
          </a:xfrm>
          <a:prstGeom prst="roundRect">
            <a:avLst>
              <a:gd name="adj" fmla="val 8696"/>
            </a:avLst>
          </a:prstGeom>
          <a:solidFill>
            <a:srgbClr val="1F1F1F"/>
          </a:solidFill>
          <a:ln/>
        </p:spPr>
      </p:sp>
      <p:sp>
        <p:nvSpPr>
          <p:cNvPr id="19" name="Text 15"/>
          <p:cNvSpPr/>
          <p:nvPr/>
        </p:nvSpPr>
        <p:spPr>
          <a:xfrm>
            <a:off x="822960" y="5440680"/>
            <a:ext cx="9144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2D8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04</a:t>
            </a:r>
            <a:endParaRPr lang="en-US" sz="2600" dirty="0"/>
          </a:p>
        </p:txBody>
      </p:sp>
      <p:sp>
        <p:nvSpPr>
          <p:cNvPr id="20" name="Text 16"/>
          <p:cNvSpPr/>
          <p:nvPr/>
        </p:nvSpPr>
        <p:spPr>
          <a:xfrm>
            <a:off x="1920240" y="5719356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Bookman Old Style" pitchFamily="34" charset="0"/>
              </a:rPr>
              <a:t>Start exploring dashboards, workbooks, sheets and reports</a:t>
            </a:r>
            <a:endParaRPr lang="en-US" sz="1450" dirty="0"/>
          </a:p>
        </p:txBody>
      </p:sp>
      <p:sp>
        <p:nvSpPr>
          <p:cNvPr id="21" name="Text 17"/>
          <p:cNvSpPr/>
          <p:nvPr/>
        </p:nvSpPr>
        <p:spPr>
          <a:xfrm>
            <a:off x="5120640" y="5550408"/>
            <a:ext cx="5806440" cy="8321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Customize your own UI with charts, shapes, colors and size options, sheets and workbooks.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457200" y="652881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LEDGERELY  |  TUTOR GUIDE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6C7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686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2D8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What Tutors Should Know First</a:t>
            </a:r>
            <a:endParaRPr lang="en-US" sz="3000" dirty="0">
              <a:solidFill>
                <a:srgbClr val="C2D82E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212080" cy="2103120"/>
          </a:xfrm>
          <a:prstGeom prst="roundRect">
            <a:avLst>
              <a:gd name="adj" fmla="val 4348"/>
            </a:avLst>
          </a:prstGeom>
          <a:solidFill>
            <a:srgbClr val="F7F8EE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965960"/>
            <a:ext cx="594360" cy="594360"/>
          </a:xfrm>
          <a:prstGeom prst="ellipse">
            <a:avLst/>
          </a:prstGeom>
          <a:solidFill>
            <a:srgbClr val="0A0A0A"/>
          </a:solidFill>
          <a:ln/>
        </p:spPr>
      </p:sp>
      <p:pic>
        <p:nvPicPr>
          <p:cNvPr id="6" name="Image 0" descr="pie_C2D8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2112264"/>
            <a:ext cx="630936" cy="6309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1965960"/>
            <a:ext cx="3886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0A0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Spending Dashboard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651760"/>
            <a:ext cx="46634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breakdown of spending by category, updated automatically from linked accounts.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035040" y="1691640"/>
            <a:ext cx="5212080" cy="2103120"/>
          </a:xfrm>
          <a:prstGeom prst="roundRect">
            <a:avLst>
              <a:gd name="adj" fmla="val 4348"/>
            </a:avLst>
          </a:prstGeom>
          <a:solidFill>
            <a:srgbClr val="F7F8EE"/>
          </a:solidFill>
          <a:ln/>
        </p:spPr>
      </p:sp>
      <p:sp>
        <p:nvSpPr>
          <p:cNvPr id="10" name="Shape 7"/>
          <p:cNvSpPr/>
          <p:nvPr/>
        </p:nvSpPr>
        <p:spPr>
          <a:xfrm>
            <a:off x="6309360" y="1965960"/>
            <a:ext cx="594360" cy="594360"/>
          </a:xfrm>
          <a:prstGeom prst="ellipse">
            <a:avLst/>
          </a:prstGeom>
          <a:solidFill>
            <a:srgbClr val="0A0A0A"/>
          </a:solidFill>
          <a:ln/>
        </p:spPr>
      </p:sp>
      <p:pic>
        <p:nvPicPr>
          <p:cNvPr id="11" name="Image 1" descr="receipt_C2D82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664" y="2112264"/>
            <a:ext cx="594360" cy="5943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086600" y="1965960"/>
            <a:ext cx="3886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0A0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Transaction Ledger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6309360" y="2651760"/>
            <a:ext cx="46634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transaction is logged and searchable, with manual entries supported too.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48640" y="4069080"/>
            <a:ext cx="5212080" cy="2103120"/>
          </a:xfrm>
          <a:prstGeom prst="roundRect">
            <a:avLst>
              <a:gd name="adj" fmla="val 4348"/>
            </a:avLst>
          </a:prstGeom>
          <a:solidFill>
            <a:srgbClr val="F7F8EE"/>
          </a:solidFill>
          <a:ln/>
        </p:spPr>
      </p:sp>
      <p:sp>
        <p:nvSpPr>
          <p:cNvPr id="15" name="Shape 11"/>
          <p:cNvSpPr/>
          <p:nvPr/>
        </p:nvSpPr>
        <p:spPr>
          <a:xfrm>
            <a:off x="822960" y="4343400"/>
            <a:ext cx="594360" cy="594360"/>
          </a:xfrm>
          <a:prstGeom prst="ellipse">
            <a:avLst/>
          </a:prstGeom>
          <a:solidFill>
            <a:srgbClr val="0A0A0A"/>
          </a:solidFill>
          <a:ln/>
        </p:spPr>
      </p:sp>
      <p:pic>
        <p:nvPicPr>
          <p:cNvPr id="16" name="Image 2" descr="goal_C2D82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264" y="4489704"/>
            <a:ext cx="594360" cy="5943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00200" y="4343400"/>
            <a:ext cx="3886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0A0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Goal Matching and reporting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822960" y="5029200"/>
            <a:ext cx="46634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recommends realistic savings and debt goals based on real cash-flow patterns.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035040" y="4069080"/>
            <a:ext cx="5212080" cy="2103120"/>
          </a:xfrm>
          <a:prstGeom prst="roundRect">
            <a:avLst>
              <a:gd name="adj" fmla="val 4348"/>
            </a:avLst>
          </a:prstGeom>
          <a:solidFill>
            <a:srgbClr val="F7F8EE"/>
          </a:solidFill>
          <a:ln/>
        </p:spPr>
      </p:sp>
      <p:sp>
        <p:nvSpPr>
          <p:cNvPr id="20" name="Shape 15"/>
          <p:cNvSpPr/>
          <p:nvPr/>
        </p:nvSpPr>
        <p:spPr>
          <a:xfrm>
            <a:off x="6309360" y="4343400"/>
            <a:ext cx="594360" cy="594360"/>
          </a:xfrm>
          <a:prstGeom prst="ellipse">
            <a:avLst/>
          </a:prstGeom>
          <a:solidFill>
            <a:srgbClr val="0A0A0A"/>
          </a:solidFill>
          <a:ln/>
        </p:spPr>
      </p:sp>
      <p:pic>
        <p:nvPicPr>
          <p:cNvPr id="21" name="Image 3" descr="shield_C2D82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5664" y="4489704"/>
            <a:ext cx="594360" cy="59436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086600" y="4343400"/>
            <a:ext cx="3886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0A0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Security &amp; Privacy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6309360" y="5029200"/>
            <a:ext cx="46634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</a:t>
            </a:r>
            <a:r>
              <a:rPr lang="en-US" sz="11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 and read-only account access keep data protected.</a:t>
            </a:r>
            <a:endParaRPr lang="en-US" sz="1150" dirty="0"/>
          </a:p>
        </p:txBody>
      </p:sp>
      <p:sp>
        <p:nvSpPr>
          <p:cNvPr id="24" name="Text 18"/>
          <p:cNvSpPr/>
          <p:nvPr/>
        </p:nvSpPr>
        <p:spPr>
          <a:xfrm>
            <a:off x="457200" y="652881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8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LEDGERELY  |  TUTOR GUIDE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kern="0" spc="200" dirty="0">
                <a:solidFill>
                  <a:srgbClr val="C2D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SHOPPING</a:t>
            </a:r>
            <a:endParaRPr lang="en-US" sz="3200" dirty="0">
              <a:solidFill>
                <a:srgbClr val="C2D82E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686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2D8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Logging a Transaction Manually</a:t>
            </a:r>
            <a:endParaRPr lang="en-US" sz="3000" dirty="0">
              <a:solidFill>
                <a:srgbClr val="C2D82E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0A0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Steps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10896" cy="310896"/>
          </a:xfrm>
          <a:prstGeom prst="ellipse">
            <a:avLst/>
          </a:prstGeom>
          <a:solidFill>
            <a:srgbClr val="C2D82E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1488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" y="2093976"/>
            <a:ext cx="4937760" cy="457200"/>
          </a:xfrm>
          <a:prstGeom prst="rect">
            <a:avLst/>
          </a:prstGeom>
          <a:solidFill>
            <a:schemeClr val="tx1"/>
          </a:solidFill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</a:t>
            </a:r>
            <a:r>
              <a:rPr lang="en-US" sz="120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Ledger app from https://Ledgerely.com/app/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2770632"/>
            <a:ext cx="310896" cy="310896"/>
          </a:xfrm>
          <a:prstGeom prst="ellipse">
            <a:avLst/>
          </a:prstGeom>
          <a:solidFill>
            <a:srgbClr val="C2D82E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77063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05840" y="2715768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money planner option and select fast shopping.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1" name="Shape 9"/>
          <p:cNvSpPr/>
          <p:nvPr/>
        </p:nvSpPr>
        <p:spPr>
          <a:xfrm>
            <a:off x="548640" y="3392424"/>
            <a:ext cx="310896" cy="310896"/>
          </a:xfrm>
          <a:prstGeom prst="ellipse">
            <a:avLst/>
          </a:prstGeom>
          <a:solidFill>
            <a:srgbClr val="C2D82E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392424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05840" y="33375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the amount</a:t>
            </a:r>
            <a:r>
              <a:rPr lang="en-US" sz="120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transaction and </a:t>
            </a: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category.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48640" y="4014216"/>
            <a:ext cx="310896" cy="310896"/>
          </a:xfrm>
          <a:prstGeom prst="ellipse">
            <a:avLst/>
          </a:prstGeom>
          <a:solidFill>
            <a:srgbClr val="C2D82E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401421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05840" y="3959352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>
                <a:solidFill>
                  <a:schemeClr val="bg1"/>
                </a:solidFill>
              </a:rPr>
              <a:t>Select bank account or credit card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7" name="Shape 15"/>
          <p:cNvSpPr/>
          <p:nvPr/>
        </p:nvSpPr>
        <p:spPr>
          <a:xfrm>
            <a:off x="548640" y="4636008"/>
            <a:ext cx="310896" cy="310896"/>
          </a:xfrm>
          <a:prstGeom prst="ellipse">
            <a:avLst/>
          </a:prstGeom>
          <a:solidFill>
            <a:srgbClr val="C2D82E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463600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05840" y="4581144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Submit to push transaction to data base.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583680" y="1691640"/>
            <a:ext cx="5029200" cy="4480560"/>
          </a:xfrm>
          <a:prstGeom prst="roundRect">
            <a:avLst>
              <a:gd name="adj" fmla="val 3673"/>
            </a:avLst>
          </a:prstGeom>
          <a:solidFill>
            <a:srgbClr val="0A0A0A"/>
          </a:solidFill>
          <a:ln/>
          <a:effectLst>
            <a:outerShdw blurRad="101600" dist="38100" dir="5400000" algn="bl" rotWithShape="0">
              <a:srgbClr val="888888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949440" y="2011680"/>
            <a:ext cx="4297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2D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TRANSACTION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949440" y="2423160"/>
            <a:ext cx="4297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4400">
                <a:solidFill>
                  <a:schemeClr val="bg1"/>
                </a:solidFill>
              </a:rPr>
              <a:t>₹</a:t>
            </a:r>
            <a:r>
              <a:rPr lang="en-US" sz="4000" b="1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42.50</a:t>
            </a:r>
            <a:endParaRPr lang="en-US" sz="4000" dirty="0"/>
          </a:p>
        </p:txBody>
      </p:sp>
      <p:sp>
        <p:nvSpPr>
          <p:cNvPr id="23" name="Shape 21"/>
          <p:cNvSpPr/>
          <p:nvPr/>
        </p:nvSpPr>
        <p:spPr>
          <a:xfrm>
            <a:off x="6949440" y="3315789"/>
            <a:ext cx="4297680" cy="548640"/>
          </a:xfrm>
          <a:prstGeom prst="roundRect">
            <a:avLst>
              <a:gd name="adj" fmla="val 13333"/>
            </a:avLst>
          </a:prstGeom>
          <a:solidFill>
            <a:srgbClr val="1F1F1F"/>
          </a:solidFill>
          <a:ln/>
        </p:spPr>
      </p:sp>
      <p:sp>
        <p:nvSpPr>
          <p:cNvPr id="24" name="Text 22"/>
          <p:cNvSpPr/>
          <p:nvPr/>
        </p:nvSpPr>
        <p:spPr>
          <a:xfrm>
            <a:off x="7178040" y="3370653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kern="0" spc="10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7178040" y="3553533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Corner Market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949440" y="4001589"/>
            <a:ext cx="4297680" cy="548640"/>
          </a:xfrm>
          <a:prstGeom prst="roundRect">
            <a:avLst>
              <a:gd name="adj" fmla="val 13333"/>
            </a:avLst>
          </a:prstGeom>
          <a:solidFill>
            <a:srgbClr val="1F1F1F"/>
          </a:solidFill>
          <a:ln/>
        </p:spPr>
      </p:sp>
      <p:sp>
        <p:nvSpPr>
          <p:cNvPr id="27" name="Text 25"/>
          <p:cNvSpPr/>
          <p:nvPr/>
        </p:nvSpPr>
        <p:spPr>
          <a:xfrm>
            <a:off x="7178040" y="4056453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7178040" y="4239333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Groceries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949440" y="4687389"/>
            <a:ext cx="4297680" cy="548640"/>
          </a:xfrm>
          <a:prstGeom prst="roundRect">
            <a:avLst>
              <a:gd name="adj" fmla="val 13333"/>
            </a:avLst>
          </a:prstGeom>
          <a:solidFill>
            <a:srgbClr val="1F1F1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7178040" y="4742253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7178040" y="4925133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2025/01/01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949440" y="5394960"/>
            <a:ext cx="4297680" cy="502920"/>
          </a:xfrm>
          <a:prstGeom prst="roundRect">
            <a:avLst>
              <a:gd name="adj" fmla="val 50909"/>
            </a:avLst>
          </a:prstGeom>
          <a:solidFill>
            <a:srgbClr val="C2D82E"/>
          </a:solidFill>
          <a:ln/>
        </p:spPr>
      </p:sp>
      <p:sp>
        <p:nvSpPr>
          <p:cNvPr id="33" name="Text 31"/>
          <p:cNvSpPr/>
          <p:nvPr/>
        </p:nvSpPr>
        <p:spPr>
          <a:xfrm>
            <a:off x="6949440" y="5394960"/>
            <a:ext cx="4297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TRANSACTION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57200" y="652881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8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LEDGERELY  |  TUTOR GUIDE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4891852" cy="707886"/>
          </a:xfrm>
          <a:prstGeom prst="rect">
            <a:avLst/>
          </a:prstGeom>
          <a:solidFill>
            <a:schemeClr val="tx1"/>
          </a:solidFill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2D82E"/>
                </a:solidFill>
              </a:defRPr>
            </a:pPr>
            <a:r>
              <a:rPr dirty="0"/>
              <a:t>Ledgerely Workbook - Tutor Guide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rPr dirty="0">
                <a:solidFill>
                  <a:srgbClr val="C2D82E"/>
                </a:solidFill>
              </a:rPr>
              <a:t>AI-</a:t>
            </a:r>
            <a:r>
              <a:rPr dirty="0" err="1">
                <a:solidFill>
                  <a:srgbClr val="C2D82E"/>
                </a:solidFill>
              </a:rPr>
              <a:t>Mathed</a:t>
            </a:r>
            <a:r>
              <a:rPr dirty="0">
                <a:solidFill>
                  <a:srgbClr val="C2D82E"/>
                </a:solidFill>
              </a:rPr>
              <a:t>. Simplify Your Financial Goals.</a:t>
            </a:r>
          </a:p>
        </p:txBody>
      </p:sp>
      <p:pic>
        <p:nvPicPr>
          <p:cNvPr id="3" name="Picture 2" descr="Screenshot 2026-07-20 at 8.02.37 P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19" y="1261872"/>
            <a:ext cx="8841287" cy="454152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9259824" y="1286256"/>
            <a:ext cx="2718816" cy="4419600"/>
          </a:xfrm>
          <a:prstGeom prst="roundRect">
            <a:avLst/>
          </a:prstGeom>
          <a:solidFill>
            <a:srgbClr val="2D3134"/>
          </a:solidFill>
          <a:ln>
            <a:solidFill>
              <a:srgbClr val="C2D8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C2D82E"/>
                </a:solidFill>
              </a:defRPr>
            </a:pPr>
            <a:r>
              <a:rPr dirty="0"/>
              <a:t>Workbook Features</a:t>
            </a:r>
          </a:p>
          <a:p>
            <a:pPr>
              <a:defRPr sz="1500">
                <a:solidFill>
                  <a:srgbClr val="FFFFFF"/>
                </a:solidFill>
              </a:defRPr>
            </a:pPr>
            <a:r>
              <a:rPr dirty="0"/>
              <a:t>• Unlimited workbook sheets</a:t>
            </a:r>
          </a:p>
          <a:p>
            <a:pPr>
              <a:defRPr sz="1500">
                <a:solidFill>
                  <a:srgbClr val="FFFFFF"/>
                </a:solidFill>
              </a:defRPr>
            </a:pPr>
            <a:r>
              <a:rPr dirty="0"/>
              <a:t>• Add shapes, tables &amp; charts</a:t>
            </a:r>
          </a:p>
          <a:p>
            <a:pPr>
              <a:defRPr sz="1500">
                <a:solidFill>
                  <a:srgbClr val="FFFFFF"/>
                </a:solidFill>
              </a:defRPr>
            </a:pPr>
            <a:r>
              <a:rPr dirty="0"/>
              <a:t>• Dynamic data sources</a:t>
            </a:r>
          </a:p>
          <a:p>
            <a:pPr>
              <a:defRPr sz="1500">
                <a:solidFill>
                  <a:srgbClr val="FFFFFF"/>
                </a:solidFill>
              </a:defRPr>
            </a:pPr>
            <a:r>
              <a:rPr dirty="0"/>
              <a:t>• Custom SQL queries</a:t>
            </a:r>
          </a:p>
          <a:p>
            <a:pPr>
              <a:defRPr sz="1500">
                <a:solidFill>
                  <a:srgbClr val="FFFFFF"/>
                </a:solidFill>
              </a:defRPr>
            </a:pPr>
            <a:r>
              <a:rPr dirty="0"/>
              <a:t>• Auto Save enabled</a:t>
            </a:r>
          </a:p>
          <a:p>
            <a:pPr>
              <a:defRPr sz="1500">
                <a:solidFill>
                  <a:srgbClr val="FFFFFF"/>
                </a:solidFill>
              </a:defRPr>
            </a:pPr>
            <a:r>
              <a:rPr dirty="0"/>
              <a:t>• Save to server</a:t>
            </a:r>
          </a:p>
          <a:p>
            <a:pPr>
              <a:defRPr sz="1500">
                <a:solidFill>
                  <a:srgbClr val="FFFFFF"/>
                </a:solidFill>
              </a:defRPr>
            </a:pPr>
            <a:r>
              <a:rPr dirty="0"/>
              <a:t>• Export to PNG</a:t>
            </a:r>
          </a:p>
          <a:p>
            <a:pPr>
              <a:defRPr sz="1500">
                <a:solidFill>
                  <a:srgbClr val="FFFFFF"/>
                </a:solidFill>
              </a:defRPr>
            </a:pPr>
            <a:r>
              <a:rPr dirty="0"/>
              <a:t>• Suitable for banking, money, savings &amp; investments</a:t>
            </a:r>
          </a:p>
          <a:p>
            <a:pPr>
              <a:defRPr sz="1500">
                <a:solidFill>
                  <a:srgbClr val="FFFFFF"/>
                </a:solidFill>
              </a:defRPr>
            </a:pPr>
            <a:r>
              <a:rPr dirty="0"/>
              <a:t>• And much more...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6C7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 TIPS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686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C2D8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Best practices for Users</a:t>
            </a:r>
            <a:endParaRPr lang="en-US" sz="3000" dirty="0">
              <a:solidFill>
                <a:srgbClr val="C2D82E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429000" cy="2148840"/>
          </a:xfrm>
          <a:prstGeom prst="roundRect">
            <a:avLst>
              <a:gd name="adj" fmla="val 4255"/>
            </a:avLst>
          </a:prstGeom>
          <a:solidFill>
            <a:srgbClr val="F7F8EE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1947672"/>
            <a:ext cx="548640" cy="548640"/>
          </a:xfrm>
          <a:prstGeom prst="ellipse">
            <a:avLst/>
          </a:prstGeom>
          <a:solidFill>
            <a:srgbClr val="0A0A0A"/>
          </a:solidFill>
          <a:ln/>
        </p:spPr>
      </p:sp>
      <p:pic>
        <p:nvPicPr>
          <p:cNvPr id="6" name="Image 0" descr="lock_C2D8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" y="2084832"/>
            <a:ext cx="548640" cy="548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4672" y="2606040"/>
            <a:ext cx="29169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0A0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Lead with security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04672" y="2971800"/>
            <a:ext cx="29169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ensured </a:t>
            </a:r>
            <a:r>
              <a:rPr lang="en-US" sz="10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read-only, </a:t>
            </a:r>
            <a:r>
              <a:rPr lang="en-US" sz="105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encrypted connections </a:t>
            </a:r>
            <a:r>
              <a:rPr lang="en-US" sz="10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linking accounts.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206240" y="1691640"/>
            <a:ext cx="3429000" cy="2148840"/>
          </a:xfrm>
          <a:prstGeom prst="roundRect">
            <a:avLst>
              <a:gd name="adj" fmla="val 4255"/>
            </a:avLst>
          </a:prstGeom>
          <a:solidFill>
            <a:srgbClr val="F7F8EE"/>
          </a:solidFill>
          <a:ln/>
        </p:spPr>
      </p:sp>
      <p:sp>
        <p:nvSpPr>
          <p:cNvPr id="10" name="Shape 7"/>
          <p:cNvSpPr/>
          <p:nvPr/>
        </p:nvSpPr>
        <p:spPr>
          <a:xfrm>
            <a:off x="4462272" y="1947672"/>
            <a:ext cx="548640" cy="548640"/>
          </a:xfrm>
          <a:prstGeom prst="ellipse">
            <a:avLst/>
          </a:prstGeom>
          <a:solidFill>
            <a:srgbClr val="0A0A0A"/>
          </a:solidFill>
          <a:ln/>
        </p:spPr>
      </p:sp>
      <p:pic>
        <p:nvPicPr>
          <p:cNvPr id="11" name="Image 1" descr="mobile_C2D82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9432" y="2084832"/>
            <a:ext cx="548640" cy="5486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462272" y="2606040"/>
            <a:ext cx="29169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0A0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Demo on your device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462272" y="2971800"/>
            <a:ext cx="29169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through the real app </a:t>
            </a:r>
            <a:r>
              <a:rPr lang="en-US" sz="105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your desktop </a:t>
            </a:r>
            <a:r>
              <a:rPr lang="en-US" sz="10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rather </a:t>
            </a:r>
            <a:r>
              <a:rPr lang="en-US" sz="105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 exploring it abstractedly</a:t>
            </a:r>
            <a:r>
              <a:rPr lang="en-US" sz="10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7863840" y="1691640"/>
            <a:ext cx="3429000" cy="2148840"/>
          </a:xfrm>
          <a:prstGeom prst="roundRect">
            <a:avLst>
              <a:gd name="adj" fmla="val 4255"/>
            </a:avLst>
          </a:prstGeom>
          <a:solidFill>
            <a:srgbClr val="F7F8EE"/>
          </a:solidFill>
          <a:ln/>
        </p:spPr>
      </p:sp>
      <p:sp>
        <p:nvSpPr>
          <p:cNvPr id="15" name="Shape 11"/>
          <p:cNvSpPr/>
          <p:nvPr/>
        </p:nvSpPr>
        <p:spPr>
          <a:xfrm>
            <a:off x="8119872" y="1947672"/>
            <a:ext cx="548640" cy="548640"/>
          </a:xfrm>
          <a:prstGeom prst="ellipse">
            <a:avLst/>
          </a:prstGeom>
          <a:solidFill>
            <a:srgbClr val="0A0A0A"/>
          </a:solidFill>
          <a:ln/>
        </p:spPr>
      </p:sp>
      <p:pic>
        <p:nvPicPr>
          <p:cNvPr id="16" name="Image 2" descr="goal_C2D82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57032" y="2084832"/>
            <a:ext cx="548640" cy="5486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119872" y="2606040"/>
            <a:ext cx="29169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0A0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Start with one goal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8119872" y="2971800"/>
            <a:ext cx="29169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Encourage picking a single AI-suggested goal first instead </a:t>
            </a:r>
            <a:r>
              <a:rPr lang="en-US" sz="105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creating samples.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548640" y="4069080"/>
            <a:ext cx="3429000" cy="2148840"/>
          </a:xfrm>
          <a:prstGeom prst="roundRect">
            <a:avLst>
              <a:gd name="adj" fmla="val 4255"/>
            </a:avLst>
          </a:prstGeom>
          <a:solidFill>
            <a:srgbClr val="F7F8EE"/>
          </a:solidFill>
          <a:ln/>
        </p:spPr>
      </p:sp>
      <p:sp>
        <p:nvSpPr>
          <p:cNvPr id="20" name="Shape 15"/>
          <p:cNvSpPr/>
          <p:nvPr/>
        </p:nvSpPr>
        <p:spPr>
          <a:xfrm>
            <a:off x="804672" y="4325112"/>
            <a:ext cx="548640" cy="548640"/>
          </a:xfrm>
          <a:prstGeom prst="ellipse">
            <a:avLst/>
          </a:prstGeom>
          <a:solidFill>
            <a:srgbClr val="0A0A0A"/>
          </a:solidFill>
          <a:ln/>
        </p:spPr>
      </p:sp>
      <p:pic>
        <p:nvPicPr>
          <p:cNvPr id="21" name="Image 3" descr="chart_C2D82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832" y="4462272"/>
            <a:ext cx="548640" cy="54864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04672" y="4983480"/>
            <a:ext cx="29169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0A0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Revisit weekly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804672" y="5349240"/>
            <a:ext cx="29169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 a short weekly check-in to review the dashboard and goal progress.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4206240" y="4069080"/>
            <a:ext cx="3429000" cy="2148840"/>
          </a:xfrm>
          <a:prstGeom prst="roundRect">
            <a:avLst>
              <a:gd name="adj" fmla="val 4255"/>
            </a:avLst>
          </a:prstGeom>
          <a:solidFill>
            <a:srgbClr val="F7F8EE"/>
          </a:solidFill>
          <a:ln/>
        </p:spPr>
      </p:sp>
      <p:sp>
        <p:nvSpPr>
          <p:cNvPr id="25" name="Shape 19"/>
          <p:cNvSpPr/>
          <p:nvPr/>
        </p:nvSpPr>
        <p:spPr>
          <a:xfrm>
            <a:off x="4462272" y="4325112"/>
            <a:ext cx="548640" cy="548640"/>
          </a:xfrm>
          <a:prstGeom prst="ellipse">
            <a:avLst/>
          </a:prstGeom>
          <a:solidFill>
            <a:srgbClr val="0A0A0A"/>
          </a:solidFill>
          <a:ln/>
        </p:spPr>
      </p:sp>
      <p:pic>
        <p:nvPicPr>
          <p:cNvPr id="26" name="Image 4" descr="receipt_C2D82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99432" y="4462272"/>
            <a:ext cx="548640" cy="54864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462272" y="4983480"/>
            <a:ext cx="29169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0A0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Practice manual entry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4462272" y="5349240"/>
            <a:ext cx="29169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manual transaction so cash purchases aren't missed.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7863840" y="4069080"/>
            <a:ext cx="3429000" cy="2148840"/>
          </a:xfrm>
          <a:prstGeom prst="roundRect">
            <a:avLst>
              <a:gd name="adj" fmla="val 4255"/>
            </a:avLst>
          </a:prstGeom>
          <a:solidFill>
            <a:srgbClr val="F7F8EE"/>
          </a:solidFill>
          <a:ln/>
        </p:spPr>
      </p:sp>
      <p:sp>
        <p:nvSpPr>
          <p:cNvPr id="30" name="Shape 23"/>
          <p:cNvSpPr/>
          <p:nvPr/>
        </p:nvSpPr>
        <p:spPr>
          <a:xfrm>
            <a:off x="8119872" y="4325112"/>
            <a:ext cx="548640" cy="548640"/>
          </a:xfrm>
          <a:prstGeom prst="ellipse">
            <a:avLst/>
          </a:prstGeom>
          <a:solidFill>
            <a:srgbClr val="0A0A0A"/>
          </a:solidFill>
          <a:ln/>
        </p:spPr>
      </p:sp>
      <p:pic>
        <p:nvPicPr>
          <p:cNvPr id="31" name="Image 5" descr="shield_C2D82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57032" y="4462272"/>
            <a:ext cx="548640" cy="54864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119872" y="4983480"/>
            <a:ext cx="29169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0A0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Cover the basics</a:t>
            </a:r>
            <a:endParaRPr lang="en-US" sz="1300" dirty="0"/>
          </a:p>
        </p:txBody>
      </p:sp>
      <p:sp>
        <p:nvSpPr>
          <p:cNvPr id="33" name="Text 25"/>
          <p:cNvSpPr/>
          <p:nvPr/>
        </p:nvSpPr>
        <p:spPr>
          <a:xfrm>
            <a:off x="8119872" y="5349240"/>
            <a:ext cx="29169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where to start with handling transactions and manage connected accounts.</a:t>
            </a:r>
            <a:endParaRPr lang="en-US" sz="1050" dirty="0"/>
          </a:p>
        </p:txBody>
      </p:sp>
      <p:sp>
        <p:nvSpPr>
          <p:cNvPr id="34" name="Text 26"/>
          <p:cNvSpPr/>
          <p:nvPr/>
        </p:nvSpPr>
        <p:spPr>
          <a:xfrm>
            <a:off x="457200" y="652881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8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LEDGERELY  |  TUTOR GUIDE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ard_1A1A1A.png"/>
          <p:cNvPicPr>
            <a:picLocks noChangeAspect="1"/>
          </p:cNvPicPr>
          <p:nvPr/>
        </p:nvPicPr>
        <p:blipFill>
          <a:blip r:embed="rId3">
            <a:alphaModFix amt="10000"/>
          </a:blip>
          <a:stretch>
            <a:fillRect/>
          </a:stretch>
        </p:blipFill>
        <p:spPr>
          <a:xfrm rot="-720000">
            <a:off x="8731716" y="4441239"/>
            <a:ext cx="3017520" cy="3017520"/>
          </a:xfrm>
          <a:prstGeom prst="rect">
            <a:avLst/>
          </a:prstGeom>
          <a:effectLst>
            <a:glow rad="127000">
              <a:schemeClr val="tx1">
                <a:lumMod val="85000"/>
                <a:lumOff val="15000"/>
              </a:schemeClr>
            </a:glow>
          </a:effectLst>
        </p:spPr>
      </p:pic>
      <p:pic>
        <p:nvPicPr>
          <p:cNvPr id="3" name="Image 1" descr="card_1A1A1A.png"/>
          <p:cNvPicPr>
            <a:picLocks noChangeAspect="1"/>
          </p:cNvPicPr>
          <p:nvPr/>
        </p:nvPicPr>
        <p:blipFill>
          <a:blip r:embed="rId3">
            <a:alphaModFix amt="10000"/>
          </a:blip>
          <a:stretch>
            <a:fillRect/>
          </a:stretch>
        </p:blipFill>
        <p:spPr>
          <a:xfrm rot="600000">
            <a:off x="681782" y="2791302"/>
            <a:ext cx="2834640" cy="2834640"/>
          </a:xfrm>
          <a:prstGeom prst="rect">
            <a:avLst/>
          </a:prstGeom>
          <a:effectLst>
            <a:glow rad="127000">
              <a:schemeClr val="tx1">
                <a:lumMod val="85000"/>
                <a:lumOff val="15000"/>
              </a:schemeClr>
            </a:glow>
          </a:effectLst>
        </p:spPr>
      </p:pic>
      <p:pic>
        <p:nvPicPr>
          <p:cNvPr id="4" name="Image 2" descr="bank_1A1A1A.png"/>
          <p:cNvPicPr>
            <a:picLocks noChangeAspect="1"/>
          </p:cNvPicPr>
          <p:nvPr/>
        </p:nvPicPr>
        <p:blipFill>
          <a:blip r:embed="rId4">
            <a:alphaModFix amt="10000"/>
          </a:blip>
          <a:stretch>
            <a:fillRect/>
          </a:stretch>
        </p:blipFill>
        <p:spPr>
          <a:xfrm>
            <a:off x="9738360" y="182880"/>
            <a:ext cx="2011680" cy="2011680"/>
          </a:xfrm>
          <a:prstGeom prst="rect">
            <a:avLst/>
          </a:prstGeom>
          <a:effectLst>
            <a:glow rad="127000">
              <a:schemeClr val="tx1">
                <a:lumMod val="85000"/>
                <a:lumOff val="15000"/>
              </a:schemeClr>
            </a:glow>
          </a:effectLst>
        </p:spPr>
      </p:pic>
      <p:pic>
        <p:nvPicPr>
          <p:cNvPr id="5" name="Image 3" descr="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95544" y="1737360"/>
            <a:ext cx="1005840" cy="1005840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3337560" y="288036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kern="0" spc="300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LEDGERELY</a:t>
            </a:r>
            <a:endParaRPr lang="en-US" sz="2400" dirty="0"/>
          </a:p>
        </p:txBody>
      </p:sp>
      <p:sp>
        <p:nvSpPr>
          <p:cNvPr id="7" name="Text 1"/>
          <p:cNvSpPr/>
          <p:nvPr/>
        </p:nvSpPr>
        <p:spPr>
          <a:xfrm>
            <a:off x="2423160" y="35204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i="1">
                <a:solidFill>
                  <a:srgbClr val="C2D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AI-Mathed</a:t>
            </a:r>
            <a:r>
              <a:rPr lang="en-US" sz="1500" i="1" dirty="0">
                <a:solidFill>
                  <a:srgbClr val="C2D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Simplify Your Financial Goals.</a:t>
            </a:r>
            <a:endParaRPr lang="en-US" sz="1500" dirty="0"/>
          </a:p>
        </p:txBody>
      </p:sp>
      <p:sp>
        <p:nvSpPr>
          <p:cNvPr id="8" name="Text 2"/>
          <p:cNvSpPr/>
          <p:nvPr/>
        </p:nvSpPr>
        <p:spPr>
          <a:xfrm>
            <a:off x="2340864" y="3798777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B9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</a:t>
            </a:r>
            <a:r>
              <a:rPr lang="en-US" sz="1300">
                <a:solidFill>
                  <a:srgbClr val="B9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onboard?</a:t>
            </a:r>
            <a:endParaRPr lang="en-US" sz="1300" dirty="0"/>
          </a:p>
        </p:txBody>
      </p:sp>
      <p:sp>
        <p:nvSpPr>
          <p:cNvPr id="9" name="Text 3"/>
          <p:cNvSpPr/>
          <p:nvPr/>
        </p:nvSpPr>
        <p:spPr>
          <a:xfrm>
            <a:off x="457200" y="652881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LEDGERELY  |  TUTOR GUIDE</a:t>
            </a:r>
            <a:endParaRPr lang="en-US" sz="900" dirty="0"/>
          </a:p>
        </p:txBody>
      </p:sp>
      <p:sp>
        <p:nvSpPr>
          <p:cNvPr id="10" name="Text 4"/>
          <p:cNvSpPr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1523</TotalTime>
  <Words>1490</Words>
  <Application>Microsoft Macintosh PowerPoint</Application>
  <PresentationFormat>Widescreen</PresentationFormat>
  <Paragraphs>292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Aptos</vt:lpstr>
      <vt:lpstr>Aptos Display</vt:lpstr>
      <vt:lpstr>Arial</vt:lpstr>
      <vt:lpstr>Bookman Old Style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Bharani Palani</dc:creator>
  <cp:lastModifiedBy>Bharani Palani</cp:lastModifiedBy>
  <cp:revision>40</cp:revision>
  <dcterms:created xsi:type="dcterms:W3CDTF">2026-07-17T16:54:55Z</dcterms:created>
  <dcterms:modified xsi:type="dcterms:W3CDTF">2026-07-20T17:53:37Z</dcterms:modified>
</cp:coreProperties>
</file>
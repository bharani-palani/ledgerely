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5" r:id="rId2"/>
    <p:sldId id="256" r:id="rId3"/>
    <p:sldId id="266" r:id="rId4"/>
    <p:sldId id="26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D82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79"/>
    <p:restoredTop sz="94636"/>
  </p:normalViewPr>
  <p:slideViewPr>
    <p:cSldViewPr snapToGrid="0">
      <p:cViewPr varScale="1">
        <p:scale>
          <a:sx n="123" d="100"/>
          <a:sy n="123" d="100"/>
        </p:scale>
        <p:origin x="224" y="5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AAFBB-AF41-154A-B3B9-CEE10C7BD486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6BA13-E548-B743-9623-EB12637D5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0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9B84-EB65-AC71-8CF5-745E5CEB3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7C7E5-48A4-02D0-6C1C-5DAAE662C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FB3D9-2F80-F845-4B82-414A326A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DB39E-5683-AD44-89B1-94B75B088CED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ECD79-6517-6760-7DA7-D34DFC4F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01C3B-C393-1BCE-F255-676E32BB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234B-B1BA-B040-8718-063ABBDA2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52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BE845-009E-6EEC-0D6D-731905037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921C2-86EE-38DD-1F92-B9ADDD53F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0F195-6632-E4A5-4C58-4EECD771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DB39E-5683-AD44-89B1-94B75B088CED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54C95-FEC8-058B-C1DA-B08CEE1E4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83D31-3F89-8EFC-737E-A7408AC5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234B-B1BA-B040-8718-063ABBDA2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96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6D71-4041-2CFF-8079-6860A9ED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834DA-2018-5F26-5902-2667E9746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1C030-031A-1E0F-0847-2712A36A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DB39E-5683-AD44-89B1-94B75B088CED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D2FCB-E894-6C87-79F0-6194279E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CE5D7-C2F5-D0F4-E127-8654F67BE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234B-B1BA-B040-8718-063ABBDA2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9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B76DE-D568-08FC-360B-63B05456E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BCF-6A4D-AD0D-2177-6FEFB20D9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64EE9-1833-58E5-09D2-689027097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D93F0-EC19-644B-45ED-39D3ABCC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DB39E-5683-AD44-89B1-94B75B088CED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EAA66-BA57-2FED-4BAA-BA8D3EA3B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6DE32-077C-CACB-F0D8-CFA29EDB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234B-B1BA-B040-8718-063ABBDA2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7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87126-4F65-79FE-8037-14C3A73F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F447B-5AF2-7247-A674-F30987BEF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19298-5B43-C06F-008E-55A85784F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BC32E-9624-6A4F-E0C1-21E55B8EF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36001-C615-715C-7DA5-5549CADC7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446ACF-6092-29BB-BA55-6387642D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DB39E-5683-AD44-89B1-94B75B088CED}" type="datetimeFigureOut">
              <a:rPr lang="en-US" smtClean="0"/>
              <a:t>7/18/26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326F18-D773-248F-2EEB-1BCCC74BD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14517-72FC-D4EE-F066-24541957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234B-B1BA-B040-8718-063ABBDA2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30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E60E-724F-EDCA-16C7-599D3DA3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5F4CC-ED45-218D-5D83-5E42424E9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DB39E-5683-AD44-89B1-94B75B088CED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07C46B-7DD0-9D3D-9A88-5299ECA6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98513-BB69-EECD-5E29-358F7077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234B-B1BA-B040-8718-063ABBDA2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52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81BD3-A226-0686-7170-4A6B504CF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DB39E-5683-AD44-89B1-94B75B088CED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0BE4DD-9A32-E321-8119-41DDA8E41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51F6A-316F-C042-9890-AEC7C9CE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234B-B1BA-B040-8718-063ABBDA2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18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6644-E3EB-BF06-4826-84491EA1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1167A-A4D8-8383-DF32-05ECA3592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A3E4C-957D-7AB6-260C-F43454008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CE46D-7537-3915-4FE2-389BF21B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DB39E-5683-AD44-89B1-94B75B088CED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89CB9-64BC-E2EE-6CBB-C0B96B9CE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9ADDA-5687-0778-B287-E752B12A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234B-B1BA-B040-8718-063ABBDA2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02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55089-62A8-19C4-06FE-3E33C0855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8DC9B7-B4FC-C37B-3940-89036F312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FC5D9-078A-A6AD-6F89-D65536FEC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6BD1B-1C2C-8F36-C012-8CB39438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DB39E-5683-AD44-89B1-94B75B088CED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B56FF-0A95-A8C2-69F0-B4E85ED3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BDE4C-DD49-DE51-A2BB-21BB9A3EE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234B-B1BA-B040-8718-063ABBDA2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57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3B1A-C44B-AB68-808D-7096C434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FC02A-06FD-F6EA-A410-1CB97D4EE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5F4F0-FD7F-112A-0B21-8F432040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DB39E-5683-AD44-89B1-94B75B088CED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72EAC-3885-7724-4F03-DFAA6BC1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02DEB-3858-998B-3983-CD0744C0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234B-B1BA-B040-8718-063ABBDA2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96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B485D8-2E32-524D-C4C9-C145B11D6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8FF53-DE58-BD92-3B3C-31AA461E8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0D92A-CA0B-95B7-E67F-6D3B27CA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DB39E-5683-AD44-89B1-94B75B088CED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339FD-94B1-98C0-A62B-0488A51C8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14877-066C-C933-0017-18A1B793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234B-B1BA-B040-8718-063ABBDA2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13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17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977E39-C862-2D82-61AD-63972856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455B9-FF64-BEA2-1FF9-F850D1AA5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09BB2-4394-2563-ECF1-DDF28D5C0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DB39E-5683-AD44-89B1-94B75B088CED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E182B-D2BC-1220-0544-6078E4641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20B87-4223-9EAD-918C-28748C83D5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8234B-B1BA-B040-8718-063ABBDA2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57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0.png"/><Relationship Id="rId7" Type="http://schemas.openxmlformats.org/officeDocument/2006/relationships/image" Target="../media/image1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11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B613B0-A81D-6A22-CE00-72F343965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C77451-F3ED-958D-5ABE-94A311DFB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47"/>
            <a:ext cx="12192000" cy="68543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022D01-C14B-BDBF-2A2F-CA2FF353E094}"/>
              </a:ext>
            </a:extLst>
          </p:cNvPr>
          <p:cNvSpPr/>
          <p:nvPr/>
        </p:nvSpPr>
        <p:spPr>
          <a:xfrm>
            <a:off x="6787489" y="2172135"/>
            <a:ext cx="3336044" cy="523220"/>
          </a:xfrm>
          <a:prstGeom prst="rect">
            <a:avLst/>
          </a:prstGeom>
          <a:solidFill>
            <a:srgbClr val="000000">
              <a:alpha val="85000"/>
            </a:srgbClr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800" b="1" cap="none" spc="0">
                <a:ln/>
                <a:solidFill>
                  <a:srgbClr val="C2D82E"/>
                </a:solidFill>
                <a:effectLst/>
              </a:rPr>
              <a:t>Why Ledgerely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510D89-4BF2-DB92-EEA8-E1E4F8E3731A}"/>
              </a:ext>
            </a:extLst>
          </p:cNvPr>
          <p:cNvSpPr/>
          <p:nvPr/>
        </p:nvSpPr>
        <p:spPr>
          <a:xfrm>
            <a:off x="6787489" y="284773"/>
            <a:ext cx="1753007" cy="400110"/>
          </a:xfrm>
          <a:prstGeom prst="rect">
            <a:avLst/>
          </a:prstGeom>
          <a:solidFill>
            <a:srgbClr val="000000">
              <a:alpha val="81651"/>
            </a:srgbClr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000" b="1" cap="none" spc="0">
                <a:ln/>
                <a:solidFill>
                  <a:srgbClr val="C2D82E"/>
                </a:solidFill>
                <a:effectLst/>
              </a:rPr>
              <a:t>Lesson 1</a:t>
            </a:r>
          </a:p>
        </p:txBody>
      </p:sp>
    </p:spTree>
    <p:extLst>
      <p:ext uri="{BB962C8B-B14F-4D97-AF65-F5344CB8AC3E}">
        <p14:creationId xmlns:p14="http://schemas.microsoft.com/office/powerpoint/2010/main" val="3749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rd_1A1A1A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720000">
            <a:off x="9250345" y="274229"/>
            <a:ext cx="3108960" cy="3108960"/>
          </a:xfrm>
          <a:prstGeom prst="rect">
            <a:avLst/>
          </a:prstGeom>
          <a:effectLst>
            <a:glow rad="127000">
              <a:schemeClr val="tx1">
                <a:lumMod val="85000"/>
                <a:lumOff val="15000"/>
              </a:schemeClr>
            </a:glow>
          </a:effectLst>
        </p:spPr>
      </p:pic>
      <p:pic>
        <p:nvPicPr>
          <p:cNvPr id="3" name="Image 1" descr="card_1A1A1A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-600000">
            <a:off x="-1005840" y="4754880"/>
            <a:ext cx="2560320" cy="2560320"/>
          </a:xfrm>
          <a:prstGeom prst="rect">
            <a:avLst/>
          </a:prstGeom>
        </p:spPr>
      </p:pic>
      <p:pic>
        <p:nvPicPr>
          <p:cNvPr id="4" name="Imag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"/>
            <a:ext cx="457200" cy="457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97280" y="411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LEDGERELY</a:t>
            </a:r>
            <a:endParaRPr lang="en-US" sz="1300" dirty="0"/>
          </a:p>
        </p:txBody>
      </p:sp>
      <p:sp>
        <p:nvSpPr>
          <p:cNvPr id="6" name="Text 1"/>
          <p:cNvSpPr/>
          <p:nvPr/>
        </p:nvSpPr>
        <p:spPr>
          <a:xfrm>
            <a:off x="54864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C2D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50" dirty="0"/>
          </a:p>
        </p:txBody>
      </p:sp>
      <p:sp>
        <p:nvSpPr>
          <p:cNvPr id="7" name="Text 2"/>
          <p:cNvSpPr/>
          <p:nvPr/>
        </p:nvSpPr>
        <p:spPr>
          <a:xfrm>
            <a:off x="548640" y="135331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Ledgerely</a:t>
            </a:r>
            <a:endParaRPr lang="en-US" sz="3000" dirty="0"/>
          </a:p>
        </p:txBody>
      </p:sp>
      <p:sp>
        <p:nvSpPr>
          <p:cNvPr id="8" name="Text 3"/>
          <p:cNvSpPr/>
          <p:nvPr/>
        </p:nvSpPr>
        <p:spPr>
          <a:xfrm>
            <a:off x="548640" y="1965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reasons Ledgerely exists — helping people understand, manage, and grow their money with confidence.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548640" y="2606040"/>
            <a:ext cx="5303520" cy="541020"/>
          </a:xfrm>
          <a:prstGeom prst="roundRect">
            <a:avLst>
              <a:gd name="adj" fmla="val 11831"/>
            </a:avLst>
          </a:prstGeom>
          <a:solidFill>
            <a:srgbClr val="1F1F1F"/>
          </a:solidFill>
          <a:ln/>
        </p:spPr>
      </p:sp>
      <p:sp>
        <p:nvSpPr>
          <p:cNvPr id="10" name="Shape 5"/>
          <p:cNvSpPr/>
          <p:nvPr/>
        </p:nvSpPr>
        <p:spPr>
          <a:xfrm>
            <a:off x="676656" y="2688336"/>
            <a:ext cx="376428" cy="376428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11" name="Image 3" descr="receipt_C2D8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99" y="2778679"/>
            <a:ext cx="195743" cy="1957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5964" y="2606040"/>
            <a:ext cx="4479036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every penny goes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548640" y="3238500"/>
            <a:ext cx="5303520" cy="541020"/>
          </a:xfrm>
          <a:prstGeom prst="roundRect">
            <a:avLst>
              <a:gd name="adj" fmla="val 11831"/>
            </a:avLst>
          </a:prstGeom>
          <a:solidFill>
            <a:srgbClr val="1F1F1F"/>
          </a:solidFill>
          <a:ln/>
        </p:spPr>
      </p:sp>
      <p:sp>
        <p:nvSpPr>
          <p:cNvPr id="14" name="Shape 8"/>
          <p:cNvSpPr/>
          <p:nvPr/>
        </p:nvSpPr>
        <p:spPr>
          <a:xfrm>
            <a:off x="676656" y="3320796"/>
            <a:ext cx="376428" cy="376428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15" name="Image 4" descr="goal_C2D8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999" y="3411139"/>
            <a:ext cx="195743" cy="1957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5964" y="3238500"/>
            <a:ext cx="4479036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financial goals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548640" y="3870960"/>
            <a:ext cx="5303520" cy="541020"/>
          </a:xfrm>
          <a:prstGeom prst="roundRect">
            <a:avLst>
              <a:gd name="adj" fmla="val 11831"/>
            </a:avLst>
          </a:prstGeom>
          <a:solidFill>
            <a:srgbClr val="1F1F1F"/>
          </a:solidFill>
          <a:ln/>
        </p:spPr>
      </p:sp>
      <p:sp>
        <p:nvSpPr>
          <p:cNvPr id="18" name="Shape 11"/>
          <p:cNvSpPr/>
          <p:nvPr/>
        </p:nvSpPr>
        <p:spPr>
          <a:xfrm>
            <a:off x="676656" y="3953256"/>
            <a:ext cx="376428" cy="376428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19" name="Image 5" descr="chart_C2D8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999" y="4043599"/>
            <a:ext cx="195743" cy="19574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5964" y="3870960"/>
            <a:ext cx="4479036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investments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548640" y="4503420"/>
            <a:ext cx="5303520" cy="541020"/>
          </a:xfrm>
          <a:prstGeom prst="roundRect">
            <a:avLst>
              <a:gd name="adj" fmla="val 11831"/>
            </a:avLst>
          </a:prstGeom>
          <a:solidFill>
            <a:srgbClr val="1F1F1F"/>
          </a:solidFill>
          <a:ln/>
        </p:spPr>
      </p:sp>
      <p:sp>
        <p:nvSpPr>
          <p:cNvPr id="22" name="Shape 14"/>
          <p:cNvSpPr/>
          <p:nvPr/>
        </p:nvSpPr>
        <p:spPr>
          <a:xfrm>
            <a:off x="676656" y="4585716"/>
            <a:ext cx="376428" cy="376428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23" name="Image 6" descr="bank_C2D8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999" y="4676059"/>
            <a:ext cx="195743" cy="19574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35964" y="4503420"/>
            <a:ext cx="4479036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loans / EMI's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548640" y="5135880"/>
            <a:ext cx="5303520" cy="541020"/>
          </a:xfrm>
          <a:prstGeom prst="roundRect">
            <a:avLst>
              <a:gd name="adj" fmla="val 11831"/>
            </a:avLst>
          </a:prstGeom>
          <a:solidFill>
            <a:srgbClr val="1F1F1F"/>
          </a:solidFill>
          <a:ln/>
        </p:spPr>
      </p:sp>
      <p:sp>
        <p:nvSpPr>
          <p:cNvPr id="26" name="Shape 17"/>
          <p:cNvSpPr/>
          <p:nvPr/>
        </p:nvSpPr>
        <p:spPr>
          <a:xfrm>
            <a:off x="676656" y="5218176"/>
            <a:ext cx="376428" cy="376428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27" name="Image 7" descr="brain_C2D82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999" y="5308519"/>
            <a:ext cx="195743" cy="195743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235964" y="5135880"/>
            <a:ext cx="4479036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548640" y="5768340"/>
            <a:ext cx="5303520" cy="541020"/>
          </a:xfrm>
          <a:prstGeom prst="roundRect">
            <a:avLst>
              <a:gd name="adj" fmla="val 11831"/>
            </a:avLst>
          </a:prstGeom>
          <a:solidFill>
            <a:srgbClr val="1F1F1F"/>
          </a:solidFill>
          <a:ln/>
        </p:spPr>
      </p:sp>
      <p:sp>
        <p:nvSpPr>
          <p:cNvPr id="30" name="Shape 20"/>
          <p:cNvSpPr/>
          <p:nvPr/>
        </p:nvSpPr>
        <p:spPr>
          <a:xfrm>
            <a:off x="676656" y="5850636"/>
            <a:ext cx="376428" cy="376428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31" name="Image 8" descr="mobile_C2D82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999" y="5940979"/>
            <a:ext cx="195743" cy="195743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235964" y="5768340"/>
            <a:ext cx="4479036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anywhere (any device)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6172200" y="2606040"/>
            <a:ext cx="5303520" cy="541020"/>
          </a:xfrm>
          <a:prstGeom prst="roundRect">
            <a:avLst>
              <a:gd name="adj" fmla="val 11831"/>
            </a:avLst>
          </a:prstGeom>
          <a:solidFill>
            <a:srgbClr val="1F1F1F"/>
          </a:solidFill>
          <a:ln/>
        </p:spPr>
      </p:sp>
      <p:sp>
        <p:nvSpPr>
          <p:cNvPr id="34" name="Shape 23"/>
          <p:cNvSpPr/>
          <p:nvPr/>
        </p:nvSpPr>
        <p:spPr>
          <a:xfrm>
            <a:off x="6300216" y="2688336"/>
            <a:ext cx="376428" cy="376428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35" name="Image 9" descr="wifi_C2D82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0559" y="2778679"/>
            <a:ext cx="195743" cy="195743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859524" y="2606040"/>
            <a:ext cx="4479036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limited internet</a:t>
            </a:r>
            <a:endParaRPr lang="en-US" sz="1150" dirty="0"/>
          </a:p>
        </p:txBody>
      </p:sp>
      <p:sp>
        <p:nvSpPr>
          <p:cNvPr id="37" name="Shape 25"/>
          <p:cNvSpPr/>
          <p:nvPr/>
        </p:nvSpPr>
        <p:spPr>
          <a:xfrm>
            <a:off x="6172200" y="3238500"/>
            <a:ext cx="5303520" cy="541020"/>
          </a:xfrm>
          <a:prstGeom prst="roundRect">
            <a:avLst>
              <a:gd name="adj" fmla="val 11831"/>
            </a:avLst>
          </a:prstGeom>
          <a:solidFill>
            <a:srgbClr val="1F1F1F"/>
          </a:solidFill>
          <a:ln/>
        </p:spPr>
      </p:sp>
      <p:sp>
        <p:nvSpPr>
          <p:cNvPr id="38" name="Shape 26"/>
          <p:cNvSpPr/>
          <p:nvPr/>
        </p:nvSpPr>
        <p:spPr>
          <a:xfrm>
            <a:off x="6300216" y="3320796"/>
            <a:ext cx="376428" cy="376428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39" name="Image 10" descr="piggy_C2D82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0559" y="3411139"/>
            <a:ext cx="195743" cy="195743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859524" y="3238500"/>
            <a:ext cx="4479036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financial domain in one place</a:t>
            </a:r>
            <a:endParaRPr lang="en-US" sz="1150" dirty="0"/>
          </a:p>
        </p:txBody>
      </p:sp>
      <p:sp>
        <p:nvSpPr>
          <p:cNvPr id="41" name="Shape 28"/>
          <p:cNvSpPr/>
          <p:nvPr/>
        </p:nvSpPr>
        <p:spPr>
          <a:xfrm>
            <a:off x="6172200" y="3870960"/>
            <a:ext cx="5303520" cy="541020"/>
          </a:xfrm>
          <a:prstGeom prst="roundRect">
            <a:avLst>
              <a:gd name="adj" fmla="val 11831"/>
            </a:avLst>
          </a:prstGeom>
          <a:solidFill>
            <a:srgbClr val="1F1F1F"/>
          </a:solidFill>
          <a:ln/>
        </p:spPr>
      </p:sp>
      <p:sp>
        <p:nvSpPr>
          <p:cNvPr id="42" name="Shape 29"/>
          <p:cNvSpPr/>
          <p:nvPr/>
        </p:nvSpPr>
        <p:spPr>
          <a:xfrm>
            <a:off x="6300216" y="3953256"/>
            <a:ext cx="376428" cy="376428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43" name="Image 11" descr="pie_C2D82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0559" y="4043599"/>
            <a:ext cx="195743" cy="195743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6859524" y="3870960"/>
            <a:ext cx="4479036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decisions</a:t>
            </a:r>
            <a:endParaRPr lang="en-US" sz="1150" dirty="0"/>
          </a:p>
        </p:txBody>
      </p:sp>
      <p:sp>
        <p:nvSpPr>
          <p:cNvPr id="45" name="Shape 31"/>
          <p:cNvSpPr/>
          <p:nvPr/>
        </p:nvSpPr>
        <p:spPr>
          <a:xfrm>
            <a:off x="6172200" y="4503420"/>
            <a:ext cx="5303520" cy="541020"/>
          </a:xfrm>
          <a:prstGeom prst="roundRect">
            <a:avLst>
              <a:gd name="adj" fmla="val 11831"/>
            </a:avLst>
          </a:prstGeom>
          <a:solidFill>
            <a:srgbClr val="1F1F1F"/>
          </a:solidFill>
          <a:ln/>
        </p:spPr>
      </p:sp>
      <p:sp>
        <p:nvSpPr>
          <p:cNvPr id="46" name="Shape 32"/>
          <p:cNvSpPr/>
          <p:nvPr/>
        </p:nvSpPr>
        <p:spPr>
          <a:xfrm>
            <a:off x="6300216" y="4585716"/>
            <a:ext cx="376428" cy="376428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47" name="Image 12" descr="clock_C2D82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0559" y="4676059"/>
            <a:ext cx="195743" cy="195743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6859524" y="4503420"/>
            <a:ext cx="4479036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future</a:t>
            </a:r>
            <a:endParaRPr lang="en-US" sz="1150" dirty="0"/>
          </a:p>
        </p:txBody>
      </p:sp>
      <p:sp>
        <p:nvSpPr>
          <p:cNvPr id="49" name="Shape 34"/>
          <p:cNvSpPr/>
          <p:nvPr/>
        </p:nvSpPr>
        <p:spPr>
          <a:xfrm>
            <a:off x="6172200" y="5135880"/>
            <a:ext cx="5303520" cy="541020"/>
          </a:xfrm>
          <a:prstGeom prst="roundRect">
            <a:avLst>
              <a:gd name="adj" fmla="val 11831"/>
            </a:avLst>
          </a:prstGeom>
          <a:solidFill>
            <a:srgbClr val="1F1F1F"/>
          </a:solidFill>
          <a:ln/>
        </p:spPr>
      </p:sp>
      <p:sp>
        <p:nvSpPr>
          <p:cNvPr id="50" name="Shape 35"/>
          <p:cNvSpPr/>
          <p:nvPr/>
        </p:nvSpPr>
        <p:spPr>
          <a:xfrm>
            <a:off x="6300216" y="5218176"/>
            <a:ext cx="376428" cy="376428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51" name="Image 13" descr="clock_C2D82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0559" y="5308519"/>
            <a:ext cx="195743" cy="195743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6859524" y="5135880"/>
            <a:ext cx="4479036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time</a:t>
            </a:r>
            <a:endParaRPr lang="en-US" sz="1150" dirty="0"/>
          </a:p>
        </p:txBody>
      </p:sp>
      <p:sp>
        <p:nvSpPr>
          <p:cNvPr id="53" name="Shape 37"/>
          <p:cNvSpPr/>
          <p:nvPr/>
        </p:nvSpPr>
        <p:spPr>
          <a:xfrm>
            <a:off x="6172200" y="5768340"/>
            <a:ext cx="5303520" cy="541020"/>
          </a:xfrm>
          <a:prstGeom prst="roundRect">
            <a:avLst>
              <a:gd name="adj" fmla="val 11831"/>
            </a:avLst>
          </a:prstGeom>
          <a:solidFill>
            <a:srgbClr val="1F1F1F"/>
          </a:solidFill>
          <a:ln/>
        </p:spPr>
      </p:sp>
      <p:sp>
        <p:nvSpPr>
          <p:cNvPr id="54" name="Shape 38"/>
          <p:cNvSpPr/>
          <p:nvPr/>
        </p:nvSpPr>
        <p:spPr>
          <a:xfrm>
            <a:off x="6300216" y="5850636"/>
            <a:ext cx="376428" cy="376428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55" name="Image 14" descr="check_C2D82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0559" y="5940979"/>
            <a:ext cx="195743" cy="195743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6859524" y="5768340"/>
            <a:ext cx="4479036" cy="54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all users</a:t>
            </a:r>
            <a:endParaRPr lang="en-US" sz="1150" dirty="0"/>
          </a:p>
        </p:txBody>
      </p:sp>
      <p:sp>
        <p:nvSpPr>
          <p:cNvPr id="57" name="Text 40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 |  FEATURES OVERVIEW</a:t>
            </a:r>
            <a:endParaRPr lang="en-US" sz="900" dirty="0"/>
          </a:p>
        </p:txBody>
      </p:sp>
      <p:sp>
        <p:nvSpPr>
          <p:cNvPr id="58" name="Text 4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ins_1A1A1A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-720000">
            <a:off x="4815624" y="113142"/>
            <a:ext cx="2926080" cy="2926080"/>
          </a:xfrm>
          <a:prstGeom prst="rect">
            <a:avLst/>
          </a:prstGeom>
          <a:effectLst>
            <a:glow rad="127000">
              <a:schemeClr val="tx1">
                <a:lumMod val="85000"/>
                <a:lumOff val="15000"/>
              </a:schemeClr>
            </a:glow>
          </a:effectLst>
        </p:spPr>
      </p:pic>
      <p:pic>
        <p:nvPicPr>
          <p:cNvPr id="3" name="Image 1" descr="coins_1A1A1A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600000">
            <a:off x="-914400" y="-914400"/>
            <a:ext cx="2377440" cy="2377440"/>
          </a:xfrm>
          <a:prstGeom prst="rect">
            <a:avLst/>
          </a:prstGeom>
        </p:spPr>
      </p:pic>
      <p:pic>
        <p:nvPicPr>
          <p:cNvPr id="4" name="Imag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"/>
            <a:ext cx="457200" cy="457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97280" y="411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LEDGERELY</a:t>
            </a:r>
            <a:endParaRPr lang="en-US" sz="1300" dirty="0"/>
          </a:p>
        </p:txBody>
      </p:sp>
      <p:sp>
        <p:nvSpPr>
          <p:cNvPr id="6" name="Text 1"/>
          <p:cNvSpPr/>
          <p:nvPr/>
        </p:nvSpPr>
        <p:spPr>
          <a:xfrm>
            <a:off x="54864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C2D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50" dirty="0"/>
          </a:p>
        </p:txBody>
      </p:sp>
      <p:sp>
        <p:nvSpPr>
          <p:cNvPr id="7" name="Text 2"/>
          <p:cNvSpPr/>
          <p:nvPr/>
        </p:nvSpPr>
        <p:spPr>
          <a:xfrm>
            <a:off x="548640" y="135331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Importance</a:t>
            </a:r>
            <a:endParaRPr lang="en-US" sz="3000" dirty="0"/>
          </a:p>
        </p:txBody>
      </p:sp>
      <p:sp>
        <p:nvSpPr>
          <p:cNvPr id="8" name="Text 3"/>
          <p:cNvSpPr/>
          <p:nvPr/>
        </p:nvSpPr>
        <p:spPr>
          <a:xfrm>
            <a:off x="548640" y="1965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Ledgerely matters day to day — the practical value it delivers for every user's financial life.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548640" y="2606040"/>
            <a:ext cx="5303520" cy="667512"/>
          </a:xfrm>
          <a:prstGeom prst="roundRect">
            <a:avLst>
              <a:gd name="adj" fmla="val 9589"/>
            </a:avLst>
          </a:prstGeom>
          <a:solidFill>
            <a:srgbClr val="1F1F1F"/>
          </a:solidFill>
          <a:ln/>
        </p:spPr>
      </p:sp>
      <p:sp>
        <p:nvSpPr>
          <p:cNvPr id="10" name="Shape 5"/>
          <p:cNvSpPr/>
          <p:nvPr/>
        </p:nvSpPr>
        <p:spPr>
          <a:xfrm>
            <a:off x="676656" y="2729484"/>
            <a:ext cx="420624" cy="420624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11" name="Image 3" descr="eye_C2D8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06" y="2830434"/>
            <a:ext cx="218724" cy="2187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2606040"/>
            <a:ext cx="4434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financial visibility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548640" y="3364992"/>
            <a:ext cx="5303520" cy="667512"/>
          </a:xfrm>
          <a:prstGeom prst="roundRect">
            <a:avLst>
              <a:gd name="adj" fmla="val 9589"/>
            </a:avLst>
          </a:prstGeom>
          <a:solidFill>
            <a:srgbClr val="1F1F1F"/>
          </a:solidFill>
          <a:ln/>
        </p:spPr>
      </p:sp>
      <p:sp>
        <p:nvSpPr>
          <p:cNvPr id="14" name="Shape 8"/>
          <p:cNvSpPr/>
          <p:nvPr/>
        </p:nvSpPr>
        <p:spPr>
          <a:xfrm>
            <a:off x="676656" y="3488436"/>
            <a:ext cx="420624" cy="420624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15" name="Image 4" descr="pie_C2D8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606" y="3589386"/>
            <a:ext cx="218724" cy="2187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3364992"/>
            <a:ext cx="4434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budgeting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548640" y="4123944"/>
            <a:ext cx="5303520" cy="667512"/>
          </a:xfrm>
          <a:prstGeom prst="roundRect">
            <a:avLst>
              <a:gd name="adj" fmla="val 9589"/>
            </a:avLst>
          </a:prstGeom>
          <a:solidFill>
            <a:srgbClr val="1F1F1F"/>
          </a:solidFill>
          <a:ln/>
        </p:spPr>
      </p:sp>
      <p:sp>
        <p:nvSpPr>
          <p:cNvPr id="18" name="Shape 11"/>
          <p:cNvSpPr/>
          <p:nvPr/>
        </p:nvSpPr>
        <p:spPr>
          <a:xfrm>
            <a:off x="676656" y="4247388"/>
            <a:ext cx="420624" cy="420624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19" name="Image 5" descr="goal_C2D8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606" y="4348338"/>
            <a:ext cx="218724" cy="21872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123944"/>
            <a:ext cx="4434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based financial planning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548640" y="4882896"/>
            <a:ext cx="5303520" cy="667512"/>
          </a:xfrm>
          <a:prstGeom prst="roundRect">
            <a:avLst>
              <a:gd name="adj" fmla="val 9589"/>
            </a:avLst>
          </a:prstGeom>
          <a:solidFill>
            <a:srgbClr val="1F1F1F"/>
          </a:solidFill>
          <a:ln/>
        </p:spPr>
      </p:sp>
      <p:sp>
        <p:nvSpPr>
          <p:cNvPr id="22" name="Shape 14"/>
          <p:cNvSpPr/>
          <p:nvPr/>
        </p:nvSpPr>
        <p:spPr>
          <a:xfrm>
            <a:off x="676656" y="5006340"/>
            <a:ext cx="420624" cy="420624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23" name="Image 6" descr="card_C2D8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606" y="5107290"/>
            <a:ext cx="218724" cy="21872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80160" y="4882896"/>
            <a:ext cx="4434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management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548640" y="5641848"/>
            <a:ext cx="5303520" cy="667512"/>
          </a:xfrm>
          <a:prstGeom prst="roundRect">
            <a:avLst>
              <a:gd name="adj" fmla="val 9589"/>
            </a:avLst>
          </a:prstGeom>
          <a:solidFill>
            <a:srgbClr val="1F1F1F"/>
          </a:solidFill>
          <a:ln/>
        </p:spPr>
      </p:sp>
      <p:sp>
        <p:nvSpPr>
          <p:cNvPr id="26" name="Shape 17"/>
          <p:cNvSpPr/>
          <p:nvPr/>
        </p:nvSpPr>
        <p:spPr>
          <a:xfrm>
            <a:off x="676656" y="5765292"/>
            <a:ext cx="420624" cy="420624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27" name="Image 7" descr="chart_C2D82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606" y="5866242"/>
            <a:ext cx="218724" cy="21872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280160" y="5641848"/>
            <a:ext cx="4434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analysis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6016752" y="2322576"/>
            <a:ext cx="5303520" cy="542109"/>
          </a:xfrm>
          <a:prstGeom prst="roundRect">
            <a:avLst>
              <a:gd name="adj" fmla="val 11807"/>
            </a:avLst>
          </a:prstGeom>
          <a:solidFill>
            <a:srgbClr val="1F1F1F"/>
          </a:solidFill>
          <a:ln/>
        </p:spPr>
      </p:sp>
      <p:sp>
        <p:nvSpPr>
          <p:cNvPr id="30" name="Shape 20"/>
          <p:cNvSpPr/>
          <p:nvPr/>
        </p:nvSpPr>
        <p:spPr>
          <a:xfrm>
            <a:off x="6144768" y="2404872"/>
            <a:ext cx="377517" cy="377517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31" name="Image 8" descr="receipt_C2D82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5372" y="2495476"/>
            <a:ext cx="196309" cy="196309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705165" y="2322576"/>
            <a:ext cx="4477947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6016752" y="2956125"/>
            <a:ext cx="5303520" cy="542109"/>
          </a:xfrm>
          <a:prstGeom prst="roundRect">
            <a:avLst>
              <a:gd name="adj" fmla="val 11807"/>
            </a:avLst>
          </a:prstGeom>
          <a:solidFill>
            <a:srgbClr val="1F1F1F"/>
          </a:solidFill>
          <a:ln/>
        </p:spPr>
      </p:sp>
      <p:sp>
        <p:nvSpPr>
          <p:cNvPr id="34" name="Shape 23"/>
          <p:cNvSpPr/>
          <p:nvPr/>
        </p:nvSpPr>
        <p:spPr>
          <a:xfrm>
            <a:off x="6144768" y="3038421"/>
            <a:ext cx="377517" cy="377517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35" name="Image 9" descr="desktop_C2D82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5372" y="3129025"/>
            <a:ext cx="196309" cy="196309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705165" y="2956125"/>
            <a:ext cx="4477947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access</a:t>
            </a:r>
            <a:endParaRPr lang="en-US" sz="1150" dirty="0"/>
          </a:p>
        </p:txBody>
      </p:sp>
      <p:sp>
        <p:nvSpPr>
          <p:cNvPr id="37" name="Shape 25"/>
          <p:cNvSpPr/>
          <p:nvPr/>
        </p:nvSpPr>
        <p:spPr>
          <a:xfrm>
            <a:off x="6016752" y="3589673"/>
            <a:ext cx="5303520" cy="542109"/>
          </a:xfrm>
          <a:prstGeom prst="roundRect">
            <a:avLst>
              <a:gd name="adj" fmla="val 11807"/>
            </a:avLst>
          </a:prstGeom>
          <a:solidFill>
            <a:srgbClr val="1F1F1F"/>
          </a:solidFill>
          <a:ln/>
        </p:spPr>
      </p:sp>
      <p:sp>
        <p:nvSpPr>
          <p:cNvPr id="38" name="Shape 26"/>
          <p:cNvSpPr/>
          <p:nvPr/>
        </p:nvSpPr>
        <p:spPr>
          <a:xfrm>
            <a:off x="6144768" y="3671969"/>
            <a:ext cx="377517" cy="377517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39" name="Image 10" descr="wifi_C2D82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5372" y="3762573"/>
            <a:ext cx="196309" cy="196309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705165" y="3589673"/>
            <a:ext cx="4477947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capability</a:t>
            </a:r>
            <a:endParaRPr lang="en-US" sz="1150" dirty="0"/>
          </a:p>
        </p:txBody>
      </p:sp>
      <p:sp>
        <p:nvSpPr>
          <p:cNvPr id="41" name="Shape 28"/>
          <p:cNvSpPr/>
          <p:nvPr/>
        </p:nvSpPr>
        <p:spPr>
          <a:xfrm>
            <a:off x="6016752" y="4223222"/>
            <a:ext cx="5303520" cy="542109"/>
          </a:xfrm>
          <a:prstGeom prst="roundRect">
            <a:avLst>
              <a:gd name="adj" fmla="val 11807"/>
            </a:avLst>
          </a:prstGeom>
          <a:solidFill>
            <a:srgbClr val="1F1F1F"/>
          </a:solidFill>
          <a:ln/>
        </p:spPr>
      </p:sp>
      <p:sp>
        <p:nvSpPr>
          <p:cNvPr id="42" name="Shape 29"/>
          <p:cNvSpPr/>
          <p:nvPr/>
        </p:nvSpPr>
        <p:spPr>
          <a:xfrm>
            <a:off x="6144768" y="4305518"/>
            <a:ext cx="377517" cy="377517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43" name="Image 11" descr="shield_C2D82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5372" y="4396122"/>
            <a:ext cx="196309" cy="196309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6705165" y="4223222"/>
            <a:ext cx="4477947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150" dirty="0"/>
          </a:p>
        </p:txBody>
      </p:sp>
      <p:sp>
        <p:nvSpPr>
          <p:cNvPr id="45" name="Shape 31"/>
          <p:cNvSpPr/>
          <p:nvPr/>
        </p:nvSpPr>
        <p:spPr>
          <a:xfrm>
            <a:off x="6016752" y="4856770"/>
            <a:ext cx="5303520" cy="542109"/>
          </a:xfrm>
          <a:prstGeom prst="roundRect">
            <a:avLst>
              <a:gd name="adj" fmla="val 11807"/>
            </a:avLst>
          </a:prstGeom>
          <a:solidFill>
            <a:srgbClr val="1F1F1F"/>
          </a:solidFill>
          <a:ln/>
        </p:spPr>
      </p:sp>
      <p:sp>
        <p:nvSpPr>
          <p:cNvPr id="46" name="Shape 32"/>
          <p:cNvSpPr/>
          <p:nvPr/>
        </p:nvSpPr>
        <p:spPr>
          <a:xfrm>
            <a:off x="6144768" y="4939066"/>
            <a:ext cx="377517" cy="377517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47" name="Image 12" descr="pie_C2D8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372" y="5029670"/>
            <a:ext cx="196309" cy="196309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6705165" y="4856770"/>
            <a:ext cx="4477947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dashboard</a:t>
            </a:r>
            <a:endParaRPr lang="en-US" sz="1150" dirty="0"/>
          </a:p>
        </p:txBody>
      </p:sp>
      <p:sp>
        <p:nvSpPr>
          <p:cNvPr id="49" name="Shape 34"/>
          <p:cNvSpPr/>
          <p:nvPr/>
        </p:nvSpPr>
        <p:spPr>
          <a:xfrm>
            <a:off x="6016752" y="5490319"/>
            <a:ext cx="5303520" cy="542109"/>
          </a:xfrm>
          <a:prstGeom prst="roundRect">
            <a:avLst>
              <a:gd name="adj" fmla="val 11807"/>
            </a:avLst>
          </a:prstGeom>
          <a:solidFill>
            <a:srgbClr val="1F1F1F"/>
          </a:solidFill>
          <a:ln/>
        </p:spPr>
      </p:sp>
      <p:sp>
        <p:nvSpPr>
          <p:cNvPr id="50" name="Shape 35"/>
          <p:cNvSpPr/>
          <p:nvPr/>
        </p:nvSpPr>
        <p:spPr>
          <a:xfrm>
            <a:off x="6144768" y="5572615"/>
            <a:ext cx="377517" cy="377517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51" name="Image 13" descr="chart_C2D82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5372" y="5663219"/>
            <a:ext cx="196309" cy="196309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6705165" y="5490319"/>
            <a:ext cx="4477947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decisions</a:t>
            </a:r>
            <a:endParaRPr lang="en-US" sz="1150" dirty="0"/>
          </a:p>
        </p:txBody>
      </p:sp>
      <p:sp>
        <p:nvSpPr>
          <p:cNvPr id="53" name="Shape 37"/>
          <p:cNvSpPr/>
          <p:nvPr/>
        </p:nvSpPr>
        <p:spPr>
          <a:xfrm>
            <a:off x="6016752" y="6123867"/>
            <a:ext cx="5303520" cy="542109"/>
          </a:xfrm>
          <a:prstGeom prst="roundRect">
            <a:avLst>
              <a:gd name="adj" fmla="val 11807"/>
            </a:avLst>
          </a:prstGeom>
          <a:solidFill>
            <a:srgbClr val="1F1F1F"/>
          </a:solidFill>
          <a:ln/>
        </p:spPr>
      </p:sp>
      <p:sp>
        <p:nvSpPr>
          <p:cNvPr id="54" name="Shape 38"/>
          <p:cNvSpPr/>
          <p:nvPr/>
        </p:nvSpPr>
        <p:spPr>
          <a:xfrm>
            <a:off x="6144768" y="6206163"/>
            <a:ext cx="377517" cy="377517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55" name="Image 14" descr="check_C2D82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5372" y="6296767"/>
            <a:ext cx="196309" cy="196309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6705165" y="6123867"/>
            <a:ext cx="4477947" cy="54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all users</a:t>
            </a:r>
            <a:endParaRPr lang="en-US" sz="1150" dirty="0"/>
          </a:p>
        </p:txBody>
      </p:sp>
      <p:sp>
        <p:nvSpPr>
          <p:cNvPr id="57" name="Text 40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 |  FEATURES OVERVIEW</a:t>
            </a:r>
            <a:endParaRPr lang="en-US" sz="900" dirty="0"/>
          </a:p>
        </p:txBody>
      </p:sp>
      <p:sp>
        <p:nvSpPr>
          <p:cNvPr id="58" name="Text 4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59" name="Image 0" descr="card_1A1A1A.png">
            <a:extLst>
              <a:ext uri="{FF2B5EF4-FFF2-40B4-BE49-F238E27FC236}">
                <a16:creationId xmlns:a16="http://schemas.microsoft.com/office/drawing/2014/main" id="{1C781675-14EA-25A7-7734-666B7F446A22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10000"/>
          </a:blip>
          <a:stretch>
            <a:fillRect/>
          </a:stretch>
        </p:blipFill>
        <p:spPr>
          <a:xfrm rot="720000">
            <a:off x="9250345" y="274229"/>
            <a:ext cx="3108960" cy="3108960"/>
          </a:xfrm>
          <a:prstGeom prst="rect">
            <a:avLst/>
          </a:prstGeom>
          <a:effectLst>
            <a:glow rad="127000">
              <a:schemeClr val="tx1">
                <a:lumMod val="85000"/>
                <a:lumOff val="15000"/>
              </a:schemeClr>
            </a:glo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ney_1A1A1A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600000">
            <a:off x="9345168" y="210312"/>
            <a:ext cx="2926080" cy="2926080"/>
          </a:xfrm>
          <a:prstGeom prst="rect">
            <a:avLst/>
          </a:prstGeom>
          <a:effectLst>
            <a:glow rad="127000">
              <a:schemeClr val="tx1">
                <a:lumMod val="85000"/>
                <a:lumOff val="15000"/>
              </a:schemeClr>
            </a:glow>
          </a:effectLst>
        </p:spPr>
      </p:pic>
      <p:pic>
        <p:nvPicPr>
          <p:cNvPr id="4" name="Imag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"/>
            <a:ext cx="457200" cy="457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97280" y="411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LEDGERELY</a:t>
            </a:r>
            <a:endParaRPr lang="en-US" sz="1300" dirty="0"/>
          </a:p>
        </p:txBody>
      </p:sp>
      <p:sp>
        <p:nvSpPr>
          <p:cNvPr id="6" name="Text 1"/>
          <p:cNvSpPr/>
          <p:nvPr/>
        </p:nvSpPr>
        <p:spPr>
          <a:xfrm>
            <a:off x="54864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C2D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50" dirty="0"/>
          </a:p>
        </p:txBody>
      </p:sp>
      <p:sp>
        <p:nvSpPr>
          <p:cNvPr id="7" name="Text 2"/>
          <p:cNvSpPr/>
          <p:nvPr/>
        </p:nvSpPr>
        <p:spPr>
          <a:xfrm>
            <a:off x="548640" y="135331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Features</a:t>
            </a:r>
            <a:endParaRPr lang="en-US" sz="3000" dirty="0"/>
          </a:p>
        </p:txBody>
      </p:sp>
      <p:sp>
        <p:nvSpPr>
          <p:cNvPr id="8" name="Text 3"/>
          <p:cNvSpPr/>
          <p:nvPr/>
        </p:nvSpPr>
        <p:spPr>
          <a:xfrm>
            <a:off x="548640" y="1965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is built as a Progressive Web App (PWA) — installable, fast, and fully functional even offline.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548640" y="2606040"/>
            <a:ext cx="2121408" cy="1874520"/>
          </a:xfrm>
          <a:prstGeom prst="roundRect">
            <a:avLst>
              <a:gd name="adj" fmla="val 4390"/>
            </a:avLst>
          </a:prstGeom>
          <a:solidFill>
            <a:srgbClr val="1F1F1F"/>
          </a:solidFill>
          <a:ln/>
        </p:spPr>
      </p:sp>
      <p:sp>
        <p:nvSpPr>
          <p:cNvPr id="10" name="Shape 5"/>
          <p:cNvSpPr/>
          <p:nvPr/>
        </p:nvSpPr>
        <p:spPr>
          <a:xfrm>
            <a:off x="749808" y="2807208"/>
            <a:ext cx="457200" cy="457200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11" name="Image 3" descr="mobile_C2D8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2916936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" y="3383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PWA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731520" y="384048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2807208" y="2606040"/>
            <a:ext cx="2121408" cy="1874520"/>
          </a:xfrm>
          <a:prstGeom prst="roundRect">
            <a:avLst>
              <a:gd name="adj" fmla="val 4390"/>
            </a:avLst>
          </a:prstGeom>
          <a:solidFill>
            <a:srgbClr val="1F1F1F"/>
          </a:solidFill>
          <a:ln/>
        </p:spPr>
      </p:sp>
      <p:sp>
        <p:nvSpPr>
          <p:cNvPr id="15" name="Shape 9"/>
          <p:cNvSpPr/>
          <p:nvPr/>
        </p:nvSpPr>
        <p:spPr>
          <a:xfrm>
            <a:off x="3008376" y="2807208"/>
            <a:ext cx="457200" cy="457200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16" name="Image 4" descr="desktop_C2D8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8104" y="2916936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990088" y="3383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Browser based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2990088" y="384048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https connection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5065776" y="2606040"/>
            <a:ext cx="2121408" cy="1874520"/>
          </a:xfrm>
          <a:prstGeom prst="roundRect">
            <a:avLst>
              <a:gd name="adj" fmla="val 4390"/>
            </a:avLst>
          </a:prstGeom>
          <a:solidFill>
            <a:srgbClr val="1F1F1F"/>
          </a:solidFill>
          <a:ln/>
        </p:spPr>
      </p:sp>
      <p:sp>
        <p:nvSpPr>
          <p:cNvPr id="20" name="Shape 13"/>
          <p:cNvSpPr/>
          <p:nvPr/>
        </p:nvSpPr>
        <p:spPr>
          <a:xfrm>
            <a:off x="5266944" y="2807208"/>
            <a:ext cx="457200" cy="457200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21" name="Image 5" descr="wifi_C2D8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672" y="2916936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48656" y="3383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Offline Support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5248656" y="384048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</a:t>
            </a:r>
            <a:r>
              <a:rPr lang="en-US" sz="95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IndexedDB + </a:t>
            </a:r>
            <a:r>
              <a:rPr lang="en-US" sz="9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7324344" y="2606040"/>
            <a:ext cx="2121408" cy="1874520"/>
          </a:xfrm>
          <a:prstGeom prst="roundRect">
            <a:avLst>
              <a:gd name="adj" fmla="val 4390"/>
            </a:avLst>
          </a:prstGeom>
          <a:solidFill>
            <a:srgbClr val="1F1F1F"/>
          </a:solidFill>
          <a:ln/>
        </p:spPr>
      </p:sp>
      <p:sp>
        <p:nvSpPr>
          <p:cNvPr id="25" name="Shape 17"/>
          <p:cNvSpPr/>
          <p:nvPr/>
        </p:nvSpPr>
        <p:spPr>
          <a:xfrm>
            <a:off x="7525512" y="2807208"/>
            <a:ext cx="457200" cy="457200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26" name="Image 6" descr="bolt_C2D8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2916936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507224" y="3383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Fast Loading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7507224" y="384048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assets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9582912" y="2606040"/>
            <a:ext cx="2121408" cy="1874520"/>
          </a:xfrm>
          <a:prstGeom prst="roundRect">
            <a:avLst>
              <a:gd name="adj" fmla="val 4390"/>
            </a:avLst>
          </a:prstGeom>
          <a:solidFill>
            <a:srgbClr val="1F1F1F"/>
          </a:solidFill>
          <a:ln/>
        </p:spPr>
      </p:sp>
      <p:sp>
        <p:nvSpPr>
          <p:cNvPr id="30" name="Shape 21"/>
          <p:cNvSpPr/>
          <p:nvPr/>
        </p:nvSpPr>
        <p:spPr>
          <a:xfrm>
            <a:off x="9784080" y="2807208"/>
            <a:ext cx="457200" cy="457200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31" name="Image 7" descr="desktop_C2D8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08" y="2916936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765792" y="3383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Responsive Design</a:t>
            </a:r>
            <a:endParaRPr lang="en-US" sz="1250" dirty="0"/>
          </a:p>
        </p:txBody>
      </p:sp>
      <p:sp>
        <p:nvSpPr>
          <p:cNvPr id="33" name="Text 23"/>
          <p:cNvSpPr/>
          <p:nvPr/>
        </p:nvSpPr>
        <p:spPr>
          <a:xfrm>
            <a:off x="9765792" y="384048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 demo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548640" y="4663440"/>
            <a:ext cx="2121408" cy="1874520"/>
          </a:xfrm>
          <a:prstGeom prst="roundRect">
            <a:avLst>
              <a:gd name="adj" fmla="val 4390"/>
            </a:avLst>
          </a:prstGeom>
          <a:solidFill>
            <a:srgbClr val="1F1F1F"/>
          </a:solidFill>
          <a:ln/>
        </p:spPr>
      </p:sp>
      <p:sp>
        <p:nvSpPr>
          <p:cNvPr id="35" name="Shape 25"/>
          <p:cNvSpPr/>
          <p:nvPr/>
        </p:nvSpPr>
        <p:spPr>
          <a:xfrm>
            <a:off x="749808" y="4864608"/>
            <a:ext cx="457200" cy="457200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36" name="Image 8" descr="lock_C2D82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4974336"/>
            <a:ext cx="237744" cy="23774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31520" y="5440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HTTPS Ready</a:t>
            </a:r>
            <a:endParaRPr lang="en-US" sz="1250" dirty="0"/>
          </a:p>
        </p:txBody>
      </p:sp>
      <p:sp>
        <p:nvSpPr>
          <p:cNvPr id="38" name="Text 27"/>
          <p:cNvSpPr/>
          <p:nvPr/>
        </p:nvSpPr>
        <p:spPr>
          <a:xfrm>
            <a:off x="731520" y="589788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2807208" y="4663440"/>
            <a:ext cx="2121408" cy="1874520"/>
          </a:xfrm>
          <a:prstGeom prst="roundRect">
            <a:avLst>
              <a:gd name="adj" fmla="val 4390"/>
            </a:avLst>
          </a:prstGeom>
          <a:solidFill>
            <a:srgbClr val="1F1F1F"/>
          </a:solidFill>
          <a:ln/>
        </p:spPr>
      </p:sp>
      <p:sp>
        <p:nvSpPr>
          <p:cNvPr id="40" name="Shape 29"/>
          <p:cNvSpPr/>
          <p:nvPr/>
        </p:nvSpPr>
        <p:spPr>
          <a:xfrm>
            <a:off x="3008376" y="4864608"/>
            <a:ext cx="457200" cy="457200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41" name="Image 9" descr="mobile_C2D8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8104" y="4974336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2990088" y="5440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App-Like Experience</a:t>
            </a:r>
            <a:endParaRPr lang="en-US" sz="1250" dirty="0"/>
          </a:p>
        </p:txBody>
      </p:sp>
      <p:sp>
        <p:nvSpPr>
          <p:cNvPr id="43" name="Text 31"/>
          <p:cNvSpPr/>
          <p:nvPr/>
        </p:nvSpPr>
        <p:spPr>
          <a:xfrm>
            <a:off x="2990088" y="589788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browser portal</a:t>
            </a:r>
            <a:endParaRPr lang="en-US" sz="950" dirty="0"/>
          </a:p>
        </p:txBody>
      </p:sp>
      <p:sp>
        <p:nvSpPr>
          <p:cNvPr id="44" name="Shape 32"/>
          <p:cNvSpPr/>
          <p:nvPr/>
        </p:nvSpPr>
        <p:spPr>
          <a:xfrm>
            <a:off x="5065776" y="4663440"/>
            <a:ext cx="2121408" cy="1874520"/>
          </a:xfrm>
          <a:prstGeom prst="roundRect">
            <a:avLst>
              <a:gd name="adj" fmla="val 4390"/>
            </a:avLst>
          </a:prstGeom>
          <a:solidFill>
            <a:srgbClr val="1F1F1F"/>
          </a:solidFill>
          <a:ln/>
        </p:spPr>
      </p:sp>
      <p:sp>
        <p:nvSpPr>
          <p:cNvPr id="45" name="Shape 33"/>
          <p:cNvSpPr/>
          <p:nvPr/>
        </p:nvSpPr>
        <p:spPr>
          <a:xfrm>
            <a:off x="5266944" y="4864608"/>
            <a:ext cx="457200" cy="457200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46" name="Image 10" descr="sync_C2D82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6672" y="4974336"/>
            <a:ext cx="237744" cy="237744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5248656" y="5440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Automatic Updates</a:t>
            </a:r>
            <a:endParaRPr lang="en-US" sz="1250" dirty="0"/>
          </a:p>
        </p:txBody>
      </p:sp>
      <p:sp>
        <p:nvSpPr>
          <p:cNvPr id="48" name="Text 35"/>
          <p:cNvSpPr/>
          <p:nvPr/>
        </p:nvSpPr>
        <p:spPr>
          <a:xfrm>
            <a:off x="5248656" y="589788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update notification</a:t>
            </a:r>
            <a:endParaRPr lang="en-US" sz="950" dirty="0"/>
          </a:p>
        </p:txBody>
      </p:sp>
      <p:sp>
        <p:nvSpPr>
          <p:cNvPr id="49" name="Shape 36"/>
          <p:cNvSpPr/>
          <p:nvPr/>
        </p:nvSpPr>
        <p:spPr>
          <a:xfrm>
            <a:off x="7324344" y="4663440"/>
            <a:ext cx="2121408" cy="1874520"/>
          </a:xfrm>
          <a:prstGeom prst="roundRect">
            <a:avLst>
              <a:gd name="adj" fmla="val 4390"/>
            </a:avLst>
          </a:prstGeom>
          <a:solidFill>
            <a:srgbClr val="1F1F1F"/>
          </a:solidFill>
          <a:ln/>
        </p:spPr>
      </p:sp>
      <p:sp>
        <p:nvSpPr>
          <p:cNvPr id="50" name="Shape 37"/>
          <p:cNvSpPr/>
          <p:nvPr/>
        </p:nvSpPr>
        <p:spPr>
          <a:xfrm>
            <a:off x="7525512" y="4864608"/>
            <a:ext cx="457200" cy="457200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51" name="Image 11" descr="cloud_C2D82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5240" y="4974336"/>
            <a:ext cx="237744" cy="237744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507224" y="5440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Background Sync</a:t>
            </a:r>
            <a:endParaRPr lang="en-US" sz="1250" dirty="0"/>
          </a:p>
        </p:txBody>
      </p:sp>
      <p:sp>
        <p:nvSpPr>
          <p:cNvPr id="53" name="Text 39"/>
          <p:cNvSpPr/>
          <p:nvPr/>
        </p:nvSpPr>
        <p:spPr>
          <a:xfrm>
            <a:off x="7507224" y="589788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queue while offline</a:t>
            </a:r>
            <a:endParaRPr lang="en-US" sz="950" dirty="0"/>
          </a:p>
        </p:txBody>
      </p:sp>
      <p:sp>
        <p:nvSpPr>
          <p:cNvPr id="54" name="Shape 40"/>
          <p:cNvSpPr/>
          <p:nvPr/>
        </p:nvSpPr>
        <p:spPr>
          <a:xfrm>
            <a:off x="9582912" y="4663440"/>
            <a:ext cx="2121408" cy="1874520"/>
          </a:xfrm>
          <a:prstGeom prst="roundRect">
            <a:avLst>
              <a:gd name="adj" fmla="val 4390"/>
            </a:avLst>
          </a:prstGeom>
          <a:solidFill>
            <a:srgbClr val="1F1F1F"/>
          </a:solidFill>
          <a:ln/>
        </p:spPr>
      </p:sp>
      <p:sp>
        <p:nvSpPr>
          <p:cNvPr id="55" name="Shape 41"/>
          <p:cNvSpPr/>
          <p:nvPr/>
        </p:nvSpPr>
        <p:spPr>
          <a:xfrm>
            <a:off x="9784080" y="4864608"/>
            <a:ext cx="457200" cy="457200"/>
          </a:xfrm>
          <a:prstGeom prst="ellipse">
            <a:avLst/>
          </a:prstGeom>
          <a:solidFill>
            <a:srgbClr val="C2D82E"/>
          </a:solidFill>
          <a:ln/>
        </p:spPr>
      </p:sp>
      <p:pic>
        <p:nvPicPr>
          <p:cNvPr id="56" name="Image 12" descr="home_C2D82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93808" y="4974336"/>
            <a:ext cx="237744" cy="237744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9765792" y="5440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Home Screen</a:t>
            </a:r>
            <a:endParaRPr lang="en-US" sz="1250" dirty="0"/>
          </a:p>
        </p:txBody>
      </p:sp>
      <p:sp>
        <p:nvSpPr>
          <p:cNvPr id="58" name="Text 43"/>
          <p:cNvSpPr/>
          <p:nvPr/>
        </p:nvSpPr>
        <p:spPr>
          <a:xfrm>
            <a:off x="9765792" y="589788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like a native app</a:t>
            </a:r>
            <a:endParaRPr lang="en-US" sz="950" dirty="0"/>
          </a:p>
        </p:txBody>
      </p:sp>
      <p:sp>
        <p:nvSpPr>
          <p:cNvPr id="59" name="Text 4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 |  FEATURES OVERVIEW</a:t>
            </a:r>
            <a:endParaRPr lang="en-US" sz="900" dirty="0"/>
          </a:p>
        </p:txBody>
      </p:sp>
      <p:sp>
        <p:nvSpPr>
          <p:cNvPr id="60" name="Text 4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card_1A1A1A.png">
            <a:extLst>
              <a:ext uri="{FF2B5EF4-FFF2-40B4-BE49-F238E27FC236}">
                <a16:creationId xmlns:a16="http://schemas.microsoft.com/office/drawing/2014/main" id="{D154DF2E-DCC7-E048-3F2E-76CE8A011D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 rot="720000">
            <a:off x="10173624" y="2743200"/>
            <a:ext cx="2377440" cy="2377440"/>
          </a:xfrm>
          <a:prstGeom prst="rect">
            <a:avLst/>
          </a:prstGeom>
          <a:effectLst>
            <a:glow rad="127000">
              <a:schemeClr val="tx1">
                <a:lumMod val="85000"/>
                <a:lumOff val="15000"/>
              </a:schemeClr>
            </a:glow>
          </a:effectLst>
        </p:spPr>
      </p:pic>
      <p:pic>
        <p:nvPicPr>
          <p:cNvPr id="6" name="Image 2" descr="card_1A1A1A.png">
            <a:extLst>
              <a:ext uri="{FF2B5EF4-FFF2-40B4-BE49-F238E27FC236}">
                <a16:creationId xmlns:a16="http://schemas.microsoft.com/office/drawing/2014/main" id="{6888AE3C-E243-E5EA-D34B-E1F78BCA0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 rot="480000">
            <a:off x="5355602" y="5486400"/>
            <a:ext cx="2743200" cy="2743200"/>
          </a:xfrm>
          <a:prstGeom prst="rect">
            <a:avLst/>
          </a:prstGeom>
          <a:effectLst>
            <a:glow rad="127000">
              <a:schemeClr val="tx1">
                <a:lumMod val="85000"/>
                <a:lumOff val="15000"/>
              </a:schemeClr>
            </a:glow>
          </a:effectLst>
        </p:spPr>
      </p:pic>
      <p:pic>
        <p:nvPicPr>
          <p:cNvPr id="7" name="Image 3" descr="card_1A1A1A.png">
            <a:extLst>
              <a:ext uri="{FF2B5EF4-FFF2-40B4-BE49-F238E27FC236}">
                <a16:creationId xmlns:a16="http://schemas.microsoft.com/office/drawing/2014/main" id="{F11DA163-2E3F-630D-FBF0-EDE9DE0F4A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 rot="-1200000">
            <a:off x="3951387" y="-3806"/>
            <a:ext cx="2194560" cy="2194560"/>
          </a:xfrm>
          <a:prstGeom prst="rect">
            <a:avLst/>
          </a:prstGeom>
          <a:effectLst>
            <a:glow rad="127000">
              <a:schemeClr val="tx1">
                <a:lumMod val="85000"/>
                <a:lumOff val="15000"/>
              </a:schemeClr>
            </a:glow>
          </a:effectLst>
        </p:spPr>
      </p:pic>
      <p:pic>
        <p:nvPicPr>
          <p:cNvPr id="8" name="Image 4" descr="bank_1A1A1A.png">
            <a:extLst>
              <a:ext uri="{FF2B5EF4-FFF2-40B4-BE49-F238E27FC236}">
                <a16:creationId xmlns:a16="http://schemas.microsoft.com/office/drawing/2014/main" id="{9E563B8F-CE6A-CEB5-A6C0-63F3FA42AD4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9533544" y="4937760"/>
            <a:ext cx="1737360" cy="1737360"/>
          </a:xfrm>
          <a:prstGeom prst="rect">
            <a:avLst/>
          </a:prstGeom>
          <a:effectLst>
            <a:glow rad="127000">
              <a:schemeClr val="tx1">
                <a:lumMod val="85000"/>
                <a:lumOff val="15000"/>
              </a:schemeClr>
            </a:glow>
          </a:effectLst>
        </p:spPr>
      </p:pic>
      <p:pic>
        <p:nvPicPr>
          <p:cNvPr id="9" name="Image 5" descr="money_1A1A1A.png">
            <a:extLst>
              <a:ext uri="{FF2B5EF4-FFF2-40B4-BE49-F238E27FC236}">
                <a16:creationId xmlns:a16="http://schemas.microsoft.com/office/drawing/2014/main" id="{A51C7116-6850-63AF-B0C2-260A21BB0BB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 rot="900000">
            <a:off x="9902307" y="569424"/>
            <a:ext cx="1645920" cy="1645920"/>
          </a:xfrm>
          <a:prstGeom prst="rect">
            <a:avLst/>
          </a:prstGeom>
          <a:effectLst>
            <a:glow rad="127000">
              <a:schemeClr val="tx1">
                <a:lumMod val="85000"/>
                <a:lumOff val="15000"/>
              </a:schemeClr>
            </a:glow>
          </a:effectLst>
        </p:spPr>
      </p:pic>
      <p:pic>
        <p:nvPicPr>
          <p:cNvPr id="10" name="Image 6" descr="logo.png">
            <a:extLst>
              <a:ext uri="{FF2B5EF4-FFF2-40B4-BE49-F238E27FC236}">
                <a16:creationId xmlns:a16="http://schemas.microsoft.com/office/drawing/2014/main" id="{93177BB0-9500-E4BA-BB40-BA9EE3A36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02920"/>
            <a:ext cx="713232" cy="713232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0D6063E4-FA34-386A-C34C-4D0FE54DE59E}"/>
              </a:ext>
            </a:extLst>
          </p:cNvPr>
          <p:cNvSpPr/>
          <p:nvPr/>
        </p:nvSpPr>
        <p:spPr>
          <a:xfrm>
            <a:off x="1463040" y="50292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LEDGERELY</a:t>
            </a:r>
            <a:endParaRPr lang="en-US" sz="2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CF094F88-6567-F35D-1357-205D1D02BC87}"/>
              </a:ext>
            </a:extLst>
          </p:cNvPr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2D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ONBOARDING GUIDE</a:t>
            </a:r>
            <a:endParaRPr lang="en-US" sz="14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0C70F65B-C503-8CB2-0A2B-8E6D1369E137}"/>
              </a:ext>
            </a:extLst>
          </p:cNvPr>
          <p:cNvSpPr/>
          <p:nvPr/>
        </p:nvSpPr>
        <p:spPr>
          <a:xfrm>
            <a:off x="640080" y="26974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Using the Ledgerely App</a:t>
            </a:r>
            <a:endParaRPr lang="en-US" sz="46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F2C05C06-A4F9-A4F4-FE88-B93C8C007A76}"/>
              </a:ext>
            </a:extLst>
          </p:cNvPr>
          <p:cNvSpPr/>
          <p:nvPr/>
        </p:nvSpPr>
        <p:spPr>
          <a:xfrm>
            <a:off x="64008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C2D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AI-Mathed</a:t>
            </a:r>
            <a:r>
              <a:rPr lang="en-US" sz="2000" i="1" dirty="0">
                <a:solidFill>
                  <a:srgbClr val="C2D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Simplify Your Financial Goals.</a:t>
            </a:r>
            <a:endParaRPr lang="en-US" sz="20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12BF327-4E5C-0E2E-0677-3DDB17399E51}"/>
              </a:ext>
            </a:extLst>
          </p:cNvPr>
          <p:cNvSpPr/>
          <p:nvPr/>
        </p:nvSpPr>
        <p:spPr>
          <a:xfrm>
            <a:off x="640080" y="4572000"/>
            <a:ext cx="502920" cy="54864"/>
          </a:xfrm>
          <a:prstGeom prst="rect">
            <a:avLst/>
          </a:prstGeom>
          <a:solidFill>
            <a:srgbClr val="C2D82E"/>
          </a:solidFill>
          <a:ln/>
        </p:spPr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61405B6A-BA5C-44E8-2618-CA4FCC2C25FF}"/>
              </a:ext>
            </a:extLst>
          </p:cNvPr>
          <p:cNvSpPr/>
          <p:nvPr/>
        </p:nvSpPr>
        <p:spPr>
          <a:xfrm>
            <a:off x="640080" y="48006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for tutors to confidently set up, navigate, and coach others through the Ledgerely money-management experience.</a:t>
            </a:r>
            <a:endParaRPr lang="en-US" sz="13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54EF1822-C3CB-3582-F0BC-A38E44A77EBB}"/>
              </a:ext>
            </a:extLst>
          </p:cNvPr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 |  TUTOR GUIDE</a:t>
            </a:r>
            <a:endParaRPr lang="en-US" sz="9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72B9C37E-4BF0-BCCE-3DF5-85BB9BEA6750}"/>
              </a:ext>
            </a:extLst>
          </p:cNvPr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0173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LEDGERELY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7315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D8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Smarter Way to Track Money</a:t>
            </a:r>
            <a:endParaRPr lang="en-US" sz="3000" dirty="0">
              <a:solidFill>
                <a:srgbClr val="C2D82E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1887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is an AI-powered personal finance app that connects bank accounts and cards, categorizes spending automatically, and matches users with financial goals tailored to their habits.</a:t>
            </a:r>
            <a:endParaRPr lang="en-US" sz="1350" dirty="0">
              <a:solidFill>
                <a:schemeClr val="bg2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F7F8EE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383280"/>
            <a:ext cx="685800" cy="6858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7" name="Image 0" descr="bank_C2D8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557016"/>
            <a:ext cx="649224" cy="6492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Connect Accounts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6634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setup </a:t>
            </a: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cards in minutes.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60520" y="306324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F7F8EE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3383280"/>
            <a:ext cx="685800" cy="6858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2" name="Image 1" descr="robot_C2D8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3557016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Matching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80560" y="46634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 matched to real spending habits.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0" y="306324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F7F8EE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92440" y="3383280"/>
            <a:ext cx="685800" cy="6858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7" name="Image 2" descr="goal_C2D8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557015"/>
            <a:ext cx="685799" cy="6857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9244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Set Goals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092440" y="46634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savings and budget goals that adapt over time.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 |  TUTOR GUIDE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bile_1A1A1A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600000">
            <a:off x="9692640" y="-914400"/>
            <a:ext cx="3108960" cy="3108960"/>
          </a:xfrm>
          <a:prstGeom prst="rect">
            <a:avLst/>
          </a:prstGeom>
        </p:spPr>
      </p:pic>
      <p:pic>
        <p:nvPicPr>
          <p:cNvPr id="3" name="Image 1" descr="mobile_1A1A1A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-720000">
            <a:off x="-1005840" y="4572000"/>
            <a:ext cx="274320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2D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777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Setting Up a New Account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87452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F1F1F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187452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D8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1920240" y="2164079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Sign </a:t>
            </a: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Up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120640" y="1984248"/>
            <a:ext cx="5806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 </a:t>
            </a: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</a:t>
            </a:r>
            <a:r>
              <a:rPr lang="en-US" sz="115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Google, </a:t>
            </a: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create an account with an email address.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306324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F1F1F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06324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D8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1920240" y="3352803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Verify Identity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120640" y="3172968"/>
            <a:ext cx="5806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email and set a secure password to protect financial data.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F1F1F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425196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D8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1920240" y="4530637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Connect a Bank or Card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120640" y="4361688"/>
            <a:ext cx="5806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</a:t>
            </a:r>
            <a:r>
              <a:rPr lang="en-US" sz="115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setup </a:t>
            </a: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</a:t>
            </a:r>
            <a:r>
              <a:rPr lang="en-US" sz="115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configure </a:t>
            </a: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checking account or credit card.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544068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F1F1F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54406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D8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1920240" y="57193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Complete the Profile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5120640" y="5550408"/>
            <a:ext cx="5806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income basics so the AI can start tailoring recommendations.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 |  TUTOR GUIDE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D8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Tutors Should Know First</a:t>
            </a:r>
            <a:endParaRPr lang="en-US" sz="3000" dirty="0">
              <a:solidFill>
                <a:srgbClr val="C2D82E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7F8E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6" name="Image 0" descr="pie_C2D8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112264"/>
            <a:ext cx="630936" cy="630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Spending Dashboard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breakdown of spending by category, updated automatically from linked accounts.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0" y="16916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7F8EE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1965960"/>
            <a:ext cx="594360" cy="59436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1" name="Image 1" descr="receipt_C2D8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112264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65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Transaction Ledger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09360" y="26517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logged and searchable, with manual entries supported too.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7F8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43400"/>
            <a:ext cx="594360" cy="59436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6" name="Image 2" descr="goal_C2D8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489704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3434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Goal Matching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50292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realistic savings and debt goals based on real cash-flow patterns.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0" y="406908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7F8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309360" y="4343400"/>
            <a:ext cx="594360" cy="59436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21" name="Image 3" descr="shield_C2D8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4489704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3434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Security &amp; Privacy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09360" y="50292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and read-only account access keep data protected.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 |  TUTOR GUIDE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Logging a Transaction Manually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Steps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10896" cy="310896"/>
          </a:xfrm>
          <a:prstGeom prst="ellipse">
            <a:avLst/>
          </a:prstGeom>
          <a:solidFill>
            <a:srgbClr val="C2D8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93976"/>
            <a:ext cx="4937760" cy="45720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2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 app from https://Ledgerely.com/app/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310896" cy="310896"/>
          </a:xfrm>
          <a:prstGeom prst="ellipse">
            <a:avLst/>
          </a:prstGeom>
          <a:solidFill>
            <a:srgbClr val="C2D8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70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7157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money planner option and select fast shopping.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310896" cy="310896"/>
          </a:xfrm>
          <a:prstGeom prst="ellipse">
            <a:avLst/>
          </a:prstGeom>
          <a:solidFill>
            <a:srgbClr val="C2D8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924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amount</a:t>
            </a:r>
            <a:r>
              <a:rPr lang="en-US" sz="12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transaction and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310896" cy="310896"/>
          </a:xfrm>
          <a:prstGeom prst="ellipse">
            <a:avLst/>
          </a:prstGeom>
          <a:solidFill>
            <a:srgbClr val="C2D82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9593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chemeClr val="bg1"/>
                </a:solidFill>
              </a:rPr>
              <a:t>Select bank account or credit card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636008"/>
            <a:ext cx="310896" cy="310896"/>
          </a:xfrm>
          <a:prstGeom prst="ellipse">
            <a:avLst/>
          </a:prstGeom>
          <a:solidFill>
            <a:srgbClr val="C2D8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360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58114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Submit to push transaction to data base.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83680" y="1691640"/>
            <a:ext cx="5029200" cy="4480560"/>
          </a:xfrm>
          <a:prstGeom prst="roundRect">
            <a:avLst>
              <a:gd name="adj" fmla="val 3673"/>
            </a:avLst>
          </a:prstGeom>
          <a:solidFill>
            <a:srgbClr val="0A0A0A"/>
          </a:solidFill>
          <a:ln/>
          <a:effectLst>
            <a:outerShdw blurRad="101600" dist="38100" dir="5400000" algn="bl" rotWithShape="0">
              <a:srgbClr val="888888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2011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D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TRANSACTION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4231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>
                <a:solidFill>
                  <a:schemeClr val="bg1"/>
                </a:solidFill>
              </a:rPr>
              <a:t>₹</a:t>
            </a:r>
            <a:r>
              <a:rPr lang="en-US" sz="40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42.50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6949440" y="3315789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1F1F1F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3370653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78040" y="355353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Market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49440" y="4001589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1F1F1F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4056453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78040" y="423933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949440" y="4687389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78040" y="4742253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178040" y="492513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2025/01/01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949440" y="5394960"/>
            <a:ext cx="4297680" cy="502920"/>
          </a:xfrm>
          <a:prstGeom prst="roundRect">
            <a:avLst>
              <a:gd name="adj" fmla="val 50909"/>
            </a:avLst>
          </a:prstGeom>
          <a:solidFill>
            <a:srgbClr val="C2D82E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53949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TRANSACTION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 |  TUTOR GUIDE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ins_1A1A1A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-600000">
            <a:off x="9052560" y="3291840"/>
            <a:ext cx="2926080" cy="2926080"/>
          </a:xfrm>
          <a:prstGeom prst="rect">
            <a:avLst/>
          </a:prstGeom>
        </p:spPr>
      </p:pic>
      <p:pic>
        <p:nvPicPr>
          <p:cNvPr id="3" name="Image 1" descr="coins_1A1A1A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900000">
            <a:off x="-914400" y="-822960"/>
            <a:ext cx="2377440" cy="23774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2D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EXPERIENCE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7772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AI Goal Matching Works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160020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reviews recent income, recurring bills, and spending patterns, then proposes goals sized to what a user can realistically achieve — and adjusts them automatically as habits change.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8" name="Image 2" descr="chart_C2D8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00400"/>
            <a:ext cx="548640" cy="548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4440" y="3044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Analyze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1234440" y="33558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recent </a:t>
            </a:r>
            <a:r>
              <a:rPr lang="en-US" sz="10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3520440" y="3063240"/>
            <a:ext cx="548640" cy="548640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12" name="Image 3" descr="robot_C2D8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200400"/>
            <a:ext cx="548640" cy="5486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06240" y="3044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Match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206240" y="33558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2-3 achievable goal options.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48640" y="4480560"/>
            <a:ext cx="548640" cy="548640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16" name="Image 4" descr="check_C2D8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617720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44622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Confirm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234440" y="4773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a goal and a target date.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3520440" y="4480560"/>
            <a:ext cx="548640" cy="548640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20" name="Image 5" descr="piggy_C2D8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4617720"/>
            <a:ext cx="548640" cy="5486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206240" y="44622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Track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4206240" y="4773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updates automatically each week.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6766560" y="1600200"/>
            <a:ext cx="4846320" cy="4480560"/>
          </a:xfrm>
          <a:prstGeom prst="roundRect">
            <a:avLst>
              <a:gd name="adj" fmla="val 3265"/>
            </a:avLst>
          </a:prstGeom>
          <a:solidFill>
            <a:srgbClr val="1F1F1F"/>
          </a:solidFill>
          <a:ln/>
        </p:spPr>
      </p:sp>
      <p:sp>
        <p:nvSpPr>
          <p:cNvPr id="24" name="Text 16"/>
          <p:cNvSpPr/>
          <p:nvPr/>
        </p:nvSpPr>
        <p:spPr>
          <a:xfrm>
            <a:off x="713232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D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GOAL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7132320" y="22219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Emergency Fund</a:t>
            </a:r>
            <a:endParaRPr lang="en-US" sz="2400" dirty="0"/>
          </a:p>
        </p:txBody>
      </p:sp>
      <p:sp>
        <p:nvSpPr>
          <p:cNvPr id="26" name="Text 18"/>
          <p:cNvSpPr/>
          <p:nvPr/>
        </p:nvSpPr>
        <p:spPr>
          <a:xfrm>
            <a:off x="7132320" y="2697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 of $3,000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7132320" y="3154680"/>
            <a:ext cx="4114800" cy="274320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</p:sp>
      <p:sp>
        <p:nvSpPr>
          <p:cNvPr id="28" name="Shape 20"/>
          <p:cNvSpPr/>
          <p:nvPr/>
        </p:nvSpPr>
        <p:spPr>
          <a:xfrm>
            <a:off x="7132320" y="31546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C2D82E"/>
          </a:solidFill>
          <a:ln/>
        </p:spPr>
      </p:sp>
      <p:sp>
        <p:nvSpPr>
          <p:cNvPr id="29" name="Text 21"/>
          <p:cNvSpPr/>
          <p:nvPr/>
        </p:nvSpPr>
        <p:spPr>
          <a:xfrm>
            <a:off x="7132320" y="3520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complete</a:t>
            </a:r>
            <a:endParaRPr lang="en-US" sz="1050" dirty="0"/>
          </a:p>
        </p:txBody>
      </p:sp>
      <p:pic>
        <p:nvPicPr>
          <p:cNvPr id="30" name="Image 6" descr="check_C2D8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4142232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98080" y="403859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</a:t>
            </a:r>
            <a:r>
              <a:rPr lang="en-US" sz="115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recent days of </a:t>
            </a: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history</a:t>
            </a:r>
            <a:endParaRPr lang="en-US" sz="1150" dirty="0"/>
          </a:p>
        </p:txBody>
      </p:sp>
      <p:pic>
        <p:nvPicPr>
          <p:cNvPr id="32" name="Image 7" descr="check_C2D8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4645152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498080" y="45306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pace to hit target in 5 weeks</a:t>
            </a:r>
            <a:endParaRPr lang="en-US" sz="1150" dirty="0"/>
          </a:p>
        </p:txBody>
      </p:sp>
      <p:pic>
        <p:nvPicPr>
          <p:cNvPr id="34" name="Image 8" descr="check_C2D8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5148072"/>
            <a:ext cx="219456" cy="219456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498080" y="504443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Auto-adjusts if income changes</a:t>
            </a:r>
            <a:endParaRPr lang="en-US" sz="1150" dirty="0"/>
          </a:p>
        </p:txBody>
      </p:sp>
      <p:sp>
        <p:nvSpPr>
          <p:cNvPr id="36" name="Text 2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 |  TUTOR GUIDE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TIPS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C2D8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Best practices for Users</a:t>
            </a:r>
            <a:endParaRPr lang="en-US" sz="3000" dirty="0">
              <a:solidFill>
                <a:srgbClr val="C2D82E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8EE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6" name="Image 0" descr="lock_C2D8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8483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0604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Lead with security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971800"/>
            <a:ext cx="2916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ensured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read-only, </a:t>
            </a: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connections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linking accounts.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1691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8EE"/>
          </a:solidFill>
          <a:ln/>
        </p:spPr>
      </p:sp>
      <p:sp>
        <p:nvSpPr>
          <p:cNvPr id="10" name="Shape 7"/>
          <p:cNvSpPr/>
          <p:nvPr/>
        </p:nvSpPr>
        <p:spPr>
          <a:xfrm>
            <a:off x="4462272" y="1947672"/>
            <a:ext cx="548640" cy="54864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1" name="Image 1" descr="mobile_C2D8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084832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260604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Demo on their device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62272" y="2971800"/>
            <a:ext cx="2916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real app </a:t>
            </a: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desktop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</a:t>
            </a: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exploring it abstractedly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63840" y="1691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8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119872" y="1947672"/>
            <a:ext cx="548640" cy="54864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6" name="Image 2" descr="goal_C2D8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2" y="208483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19872" y="260604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Start with one goal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119872" y="2971800"/>
            <a:ext cx="2916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picking a single AI-suggested goal first instead </a:t>
            </a: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creating samples.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8EE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325112"/>
            <a:ext cx="548640" cy="54864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21" name="Image 3" descr="chart_C2D8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462272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8348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Revisit weekly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04672" y="5349240"/>
            <a:ext cx="2916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 short weekly check-in to review the dashboard and goal progress.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06240" y="4069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8EE"/>
          </a:solidFill>
          <a:ln/>
        </p:spPr>
      </p:sp>
      <p:sp>
        <p:nvSpPr>
          <p:cNvPr id="25" name="Shape 19"/>
          <p:cNvSpPr/>
          <p:nvPr/>
        </p:nvSpPr>
        <p:spPr>
          <a:xfrm>
            <a:off x="4462272" y="4325112"/>
            <a:ext cx="548640" cy="54864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26" name="Image 4" descr="receipt_C2D8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4462272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62272" y="498348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Practice manual entry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62272" y="5349240"/>
            <a:ext cx="2916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manual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so cash purchases aren't missed.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63840" y="4069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8EE"/>
          </a:solidFill>
          <a:ln/>
        </p:spPr>
      </p:sp>
      <p:sp>
        <p:nvSpPr>
          <p:cNvPr id="30" name="Shape 23"/>
          <p:cNvSpPr/>
          <p:nvPr/>
        </p:nvSpPr>
        <p:spPr>
          <a:xfrm>
            <a:off x="8119872" y="4325112"/>
            <a:ext cx="548640" cy="54864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31" name="Image 5" descr="shield_C2D8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7032" y="4462272"/>
            <a:ext cx="548640" cy="5486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19872" y="498348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Cover the basics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119872" y="5349240"/>
            <a:ext cx="2916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where to update </a:t>
            </a: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transactions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manage connected accounts.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 |  TUTOR GUIDE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rd_1A1A1A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-720000">
            <a:off x="8731716" y="4441239"/>
            <a:ext cx="3017520" cy="3017520"/>
          </a:xfrm>
          <a:prstGeom prst="rect">
            <a:avLst/>
          </a:prstGeom>
          <a:effectLst>
            <a:glow rad="127000">
              <a:schemeClr val="tx1">
                <a:lumMod val="85000"/>
                <a:lumOff val="15000"/>
              </a:schemeClr>
            </a:glow>
          </a:effectLst>
        </p:spPr>
      </p:pic>
      <p:pic>
        <p:nvPicPr>
          <p:cNvPr id="3" name="Image 1" descr="card_1A1A1A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600000">
            <a:off x="681782" y="2791302"/>
            <a:ext cx="2834640" cy="2834640"/>
          </a:xfrm>
          <a:prstGeom prst="rect">
            <a:avLst/>
          </a:prstGeom>
          <a:effectLst>
            <a:glow rad="127000">
              <a:schemeClr val="tx1">
                <a:lumMod val="85000"/>
                <a:lumOff val="15000"/>
              </a:schemeClr>
            </a:glow>
          </a:effectLst>
        </p:spPr>
      </p:pic>
      <p:pic>
        <p:nvPicPr>
          <p:cNvPr id="4" name="Image 2" descr="bank_1A1A1A.png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9738360" y="182880"/>
            <a:ext cx="2011680" cy="2011680"/>
          </a:xfrm>
          <a:prstGeom prst="rect">
            <a:avLst/>
          </a:prstGeom>
          <a:effectLst>
            <a:glow rad="127000">
              <a:schemeClr val="tx1">
                <a:lumMod val="85000"/>
                <a:lumOff val="15000"/>
              </a:schemeClr>
            </a:glow>
          </a:effectLst>
        </p:spPr>
      </p:pic>
      <p:pic>
        <p:nvPicPr>
          <p:cNvPr id="5" name="Image 3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1737360"/>
            <a:ext cx="1005840" cy="10058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337560" y="28803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LEDGERELY</a:t>
            </a:r>
            <a:endParaRPr lang="en-US" sz="2400" dirty="0"/>
          </a:p>
        </p:txBody>
      </p:sp>
      <p:sp>
        <p:nvSpPr>
          <p:cNvPr id="7" name="Text 1"/>
          <p:cNvSpPr/>
          <p:nvPr/>
        </p:nvSpPr>
        <p:spPr>
          <a:xfrm>
            <a:off x="242316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C2D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AI-Mathed</a:t>
            </a:r>
            <a:r>
              <a:rPr lang="en-US" sz="1500" i="1" dirty="0">
                <a:solidFill>
                  <a:srgbClr val="C2D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Simplify Your Financial Goals.</a:t>
            </a:r>
            <a:endParaRPr lang="en-US" sz="1500" dirty="0"/>
          </a:p>
        </p:txBody>
      </p:sp>
      <p:sp>
        <p:nvSpPr>
          <p:cNvPr id="8" name="Text 2"/>
          <p:cNvSpPr/>
          <p:nvPr/>
        </p:nvSpPr>
        <p:spPr>
          <a:xfrm>
            <a:off x="2340864" y="3798777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</a:t>
            </a:r>
            <a:r>
              <a:rPr lang="en-US" sz="1300">
                <a:solidFill>
                  <a:srgbClr val="B9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onboard?</a:t>
            </a:r>
            <a:endParaRPr lang="en-US" sz="1300" dirty="0"/>
          </a:p>
        </p:txBody>
      </p:sp>
      <p:sp>
        <p:nvSpPr>
          <p:cNvPr id="9" name="Text 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LEDGERELY  |  TUTOR GUIDE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795</Words>
  <Application>Microsoft Macintosh PowerPoint</Application>
  <PresentationFormat>Widescreen</PresentationFormat>
  <Paragraphs>185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Bharani Palani</dc:creator>
  <cp:lastModifiedBy>Bharani Palani</cp:lastModifiedBy>
  <cp:revision>21</cp:revision>
  <dcterms:created xsi:type="dcterms:W3CDTF">2026-07-17T16:54:55Z</dcterms:created>
  <dcterms:modified xsi:type="dcterms:W3CDTF">2026-07-18T12:36:58Z</dcterms:modified>
</cp:coreProperties>
</file>
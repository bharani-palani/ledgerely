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5" r:id="rId2"/>
    <p:sldId id="256" r:id="rId3"/>
    <p:sldId id="266" r:id="rId4"/>
    <p:sldId id="267" r:id="rId5"/>
    <p:sldId id="258" r:id="rId6"/>
    <p:sldId id="259" r:id="rId7"/>
    <p:sldId id="260" r:id="rId8"/>
    <p:sldId id="261" r:id="rId9"/>
    <p:sldId id="268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D82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09"/>
    <p:restoredTop sz="69107"/>
  </p:normalViewPr>
  <p:slideViewPr>
    <p:cSldViewPr snapToGrid="0">
      <p:cViewPr varScale="1">
        <p:scale>
          <a:sx n="100" d="100"/>
          <a:sy n="100" d="100"/>
        </p:scale>
        <p:origin x="2496" y="1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7AAFBB-AF41-154A-B3B9-CEE10C7BD486}" type="datetimeFigureOut">
              <a:rPr lang="en-US" smtClean="0"/>
              <a:t>8/27/26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26BA13-E548-B743-9623-EB12637D54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004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Hello everyone!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Welcome to the Ledgerely Tutor Guide Series.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I'm Bharani, and in this series, I'll help you master Ledgerely,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 AI-powered financial planning application designed to simplify the way you manage your money.</a:t>
            </a: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is Ledgerely?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 you ever wondered,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 did all your salary go this month?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much you are spending on credit cards or bank accounts?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 you really saving enough for your future?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Ledgerely answers all of these questions in one intelligent platform.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helps you manage your bank accounts, credit cards, income, expenses, investments, budgets, and financial goals—all in one place.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26BA13-E548-B743-9623-EB12637D54D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770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Ledgerely?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Ledgerely is designed to help you to: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 where every penny goes.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 better budgets.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Track your investments.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Manage loans and EMIs.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 smarter financial decisions.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 confidently for your future.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 you're a student, working professional, freelancer, or family, Ledgerely adapts to your financial journey.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is it Important?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Ledgerely, you gain: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Complete visibility into your finances.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Goal-based financial planning.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Cash flow analysis.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Powerful financial reports.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personalized dashboard.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Secure access to your financial information across devices.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Built with Modern Technology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</a:t>
            </a: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Ledgerely is a modern Progressive Web App.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So, you can: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Browse it like a native app, not a web portal.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it securely over HTTPS.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Continue working even with limited internet.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Enjoy fast loading with cached data.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Automatically receive application updates.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means your financial information is always available when you need 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Its that smarter to track money.</a:t>
            </a:r>
          </a:p>
          <a:p>
            <a:endParaRPr lang="en-US" dirty="0"/>
          </a:p>
          <a:p>
            <a:r>
              <a:rPr lang="en-US" dirty="0"/>
              <a:t>Connect single or multiple accounts.</a:t>
            </a:r>
          </a:p>
          <a:p>
            <a:r>
              <a:rPr lang="en-US" dirty="0"/>
              <a:t>Use your email to select from multiple accounts, which we will be discussing shortly, in our coming videos.</a:t>
            </a:r>
          </a:p>
          <a:p>
            <a:endParaRPr lang="en-US" dirty="0"/>
          </a:p>
          <a:p>
            <a:r>
              <a:rPr lang="en-US" dirty="0"/>
              <a:t>Make transactions readable by AI to match cases and spells.</a:t>
            </a:r>
          </a:p>
          <a:p>
            <a:r>
              <a:rPr lang="en-US" dirty="0"/>
              <a:t>Ledgerely uses smart AI systems to convert text or voice to data query.</a:t>
            </a:r>
          </a:p>
          <a:p>
            <a:endParaRPr lang="en-US" dirty="0"/>
          </a:p>
          <a:p>
            <a:r>
              <a:rPr lang="en-US" dirty="0"/>
              <a:t>Once you are comfortable and set with accounts and transactions, set your plans and goals.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Setting up accounts: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the upcoming tutorials, I'll guide you through: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Creating your Ledgerely account.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Connecting your bank accounts and credit cards.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Adding transactions.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Transactions reflecting on dashboards.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Creating a workbook with a list of sheets with customized charts and reports.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Know this first:</a:t>
            </a:r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Understand your dashboard.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Planning budgets.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Track expenses and investments periodically.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Setting financial goals and generating reports.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 security management on changing or resetting your passwords.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Use Fast shopping:</a:t>
            </a:r>
          </a:p>
          <a:p>
            <a:endParaRPr lang="en-US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Add transactions at ease using fast shopping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Open the app.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Select fast shopping.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Add date, amount, category and bank. (Don’t worry, Some fields are auto selected)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Submit to server.</a:t>
            </a:r>
          </a:p>
          <a:p>
            <a:endParaRPr lang="en-US" b="0" dirty="0"/>
          </a:p>
          <a:p>
            <a:r>
              <a:rPr lang="en-US" b="0" dirty="0"/>
              <a:t>Note, this feature works both online and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Create your customized Workbook:</a:t>
            </a:r>
          </a:p>
          <a:p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Banking, money, investment and credit-card vector illustrations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Modern infographic layout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Animated chart or shape transitions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Unlimited workbook sheets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Shapes, tables &amp; charts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Dynamic data sources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Custom SQL queries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Auto Save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Save to server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Export to PNG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And much more...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26BA13-E548-B743-9623-EB12637D54D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5982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have some best practices for you.</a:t>
            </a:r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Your signing credentials are encrypted, so don’t worry about security.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Open Ledgerely in your device, It’s adaptive to all devices.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Start with one goal – Say you're planning your expenses, incomes and investments for next month, now!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Note: You too can plan for the next 5 years.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 transactions daily and review your dashboard weekly.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Get the habit of practicing, manually entering your transactions.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Some basics are good to cover on your account management and plans.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have reached the end of this session, to start a new journey with Ledgerely.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 set to on board and Sign up now..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Select a recommended subscription plan which suits your pocket, after Sign In.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I’ll leave the link in the description or click the top right card to sign up.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you're ready to take control of your finances and simplify your financial journey, you're in the right place.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Don't forget to Like, Subscribe, and turn on notifications so you never miss a new Ledgerely tutorial.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I'll see you in the next lesson! 🚀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 Bye for now..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09B84-EB65-AC71-8CF5-745E5CEB30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7C7E5-48A4-02D0-6C1C-5DAAE662C3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FB3D9-2F80-F845-4B82-414A326AF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ECD79-6517-6760-7DA7-D34DFC4FD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E01C3B-C393-1BCE-F255-676E32BB9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152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BE845-009E-6EEC-0D6D-731905037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C921C2-86EE-38DD-1F92-B9ADDD53FB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00F195-6632-E4A5-4C58-4EECD7714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54C95-FEC8-058B-C1DA-B08CEE1E4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83D31-3F89-8EFC-737E-A7408AC56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6966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36D71-4041-2CFF-8079-6860A9ED7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F834DA-2018-5F26-5902-2667E97464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1C030-031A-1E0F-0847-2712A36A9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D2FCB-E894-6C87-79F0-6194279ED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CE5D7-C2F5-D0F4-E127-8654F67BE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931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B76DE-D568-08FC-360B-63B05456E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BCF-6A4D-AD0D-2177-6FEFB20D91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364EE9-1833-58E5-09D2-689027097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FD93F0-EC19-644B-45ED-39D3ABCC3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EAA66-BA57-2FED-4BAA-BA8D3EA3B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86DE32-077C-CACB-F0D8-CFA29EDB8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578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87126-4F65-79FE-8037-14C3A73F6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F447B-5AF2-7247-A674-F30987BEF5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319298-5B43-C06F-008E-55A85784F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ABC32E-9624-6A4F-E0C1-21E55B8EFF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036001-C615-715C-7DA5-5549CADC72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446ACF-6092-29BB-BA55-6387642D0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8/27/26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326F18-D773-248F-2EEB-1BCCC74BD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014517-72FC-D4EE-F066-245419572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330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DE60E-724F-EDCA-16C7-599D3DA3B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B5F4CC-ED45-218D-5D83-5E42424E9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8/27/26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07C46B-7DD0-9D3D-9A88-5299ECA6E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E98513-BB69-EECD-5E29-358F70771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752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D81BD3-A226-0686-7170-4A6B504CF6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8/27/26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0BE4DD-9A32-E321-8119-41DDA8E41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E51F6A-316F-C042-9890-AEC7C9CED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818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6644-E3EB-BF06-4826-84491EA1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1167A-A4D8-8383-DF32-05ECA35923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2A3E4C-957D-7AB6-260C-F434540089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7CE46D-7537-3915-4FE2-389BF21B6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F89CB9-64BC-E2EE-6CBB-C0B96B9C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9ADDA-5687-0778-B287-E752B12A6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302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55089-62A8-19C4-06FE-3E33C0855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F8DC9B7-B4FC-C37B-3940-89036F312C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7FC5D9-078A-A6AD-6F89-D65536FECE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16BD1B-1C2C-8F36-C012-8CB394384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CB56FF-0A95-A8C2-69F0-B4E85ED39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BDE4C-DD49-DE51-A2BB-21BB9A3EE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57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3B1A-C44B-AB68-808D-7096C4340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2FC02A-06FD-F6EA-A410-1CB97D4EE1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75F4F0-FD7F-112A-0B21-8F432040E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72EAC-3885-7724-4F03-DFAA6BC13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F02DEB-3858-998B-3983-CD0744C07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4962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B485D8-2E32-524D-C4C9-C145B11D62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08FF53-DE58-BD92-3B3C-31AA461E8D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70D92A-CA0B-95B7-E67F-6D3B27CA7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339FD-94B1-98C0-A62B-0488A51C8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514877-066C-C933-0017-18A1B7933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0139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1176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977E39-C862-2D82-61AD-639728567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2455B9-FF64-BEA2-1FF9-F850D1AA5A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09BB2-4394-2563-ECF1-DDF28D5C08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CDB39E-5683-AD44-89B1-94B75B088CED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AE182B-D2BC-1220-0544-6078E4641F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20B87-4223-9EAD-918C-28748C83D5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457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11" Type="http://schemas.openxmlformats.org/officeDocument/2006/relationships/image" Target="../media/image18.png"/><Relationship Id="rId5" Type="http://schemas.openxmlformats.org/officeDocument/2006/relationships/image" Target="../media/image16.png"/><Relationship Id="rId15" Type="http://schemas.openxmlformats.org/officeDocument/2006/relationships/image" Target="../media/image2.png"/><Relationship Id="rId10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6.pn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0.png"/><Relationship Id="rId7" Type="http://schemas.openxmlformats.org/officeDocument/2006/relationships/image" Target="../media/image1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11" Type="http://schemas.openxmlformats.org/officeDocument/2006/relationships/image" Target="../media/image24.png"/><Relationship Id="rId5" Type="http://schemas.openxmlformats.org/officeDocument/2006/relationships/image" Target="../media/image9.png"/><Relationship Id="rId10" Type="http://schemas.openxmlformats.org/officeDocument/2006/relationships/image" Target="../media/image23.png"/><Relationship Id="rId4" Type="http://schemas.openxmlformats.org/officeDocument/2006/relationships/image" Target="../media/image3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5.png"/><Relationship Id="rId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B613B0-A81D-6A22-CE00-72F343965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C77451-F3ED-958D-5ABE-94A311DFB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47"/>
            <a:ext cx="12192000" cy="685435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8022D01-C14B-BDBF-2A2F-CA2FF353E094}"/>
              </a:ext>
            </a:extLst>
          </p:cNvPr>
          <p:cNvSpPr/>
          <p:nvPr/>
        </p:nvSpPr>
        <p:spPr>
          <a:xfrm>
            <a:off x="6790188" y="2336110"/>
            <a:ext cx="3345485" cy="369332"/>
          </a:xfrm>
          <a:prstGeom prst="rect">
            <a:avLst/>
          </a:prstGeom>
          <a:solidFill>
            <a:srgbClr val="000000">
              <a:alpha val="85000"/>
            </a:srgbClr>
          </a:solidFill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b="1" dirty="0">
                <a:solidFill>
                  <a:srgbClr val="C2D82E"/>
                </a:solidFill>
              </a:rPr>
              <a:t>Data source – Inbuilt Query 2</a:t>
            </a:r>
            <a:endParaRPr lang="en-US" b="1" cap="none" spc="0" dirty="0">
              <a:ln/>
              <a:solidFill>
                <a:srgbClr val="C2D82E"/>
              </a:solidFill>
              <a:effectLst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510D89-4BF2-DB92-EEA8-E1E4F8E3731A}"/>
              </a:ext>
            </a:extLst>
          </p:cNvPr>
          <p:cNvSpPr/>
          <p:nvPr/>
        </p:nvSpPr>
        <p:spPr>
          <a:xfrm>
            <a:off x="6790188" y="272140"/>
            <a:ext cx="1442112" cy="400110"/>
          </a:xfrm>
          <a:prstGeom prst="rect">
            <a:avLst/>
          </a:prstGeom>
          <a:solidFill>
            <a:srgbClr val="000000">
              <a:alpha val="81651"/>
            </a:srgbClr>
          </a:solidFill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000" b="1" cap="none" spc="0" dirty="0">
                <a:ln/>
                <a:solidFill>
                  <a:srgbClr val="C2D82E"/>
                </a:solidFill>
                <a:effectLst/>
              </a:rPr>
              <a:t>Lesson </a:t>
            </a:r>
            <a:r>
              <a:rPr lang="en-US" sz="2000" b="1" dirty="0">
                <a:ln/>
                <a:solidFill>
                  <a:srgbClr val="C2D82E"/>
                </a:solidFill>
              </a:rPr>
              <a:t>14</a:t>
            </a:r>
            <a:endParaRPr lang="en-US" sz="2000" b="1" cap="none" spc="0" dirty="0">
              <a:ln/>
              <a:solidFill>
                <a:srgbClr val="C2D82E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49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rd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720000">
            <a:off x="9250345" y="274229"/>
            <a:ext cx="3108960" cy="310896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3" name="Image 1" descr="card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-600000">
            <a:off x="-1005840" y="4754880"/>
            <a:ext cx="2560320" cy="2560320"/>
          </a:xfrm>
          <a:prstGeom prst="rect">
            <a:avLst/>
          </a:prstGeom>
        </p:spPr>
      </p:pic>
      <p:pic>
        <p:nvPicPr>
          <p:cNvPr id="4" name="Image 2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1480"/>
            <a:ext cx="457200" cy="4572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097280" y="411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LEDGERELY</a:t>
            </a:r>
            <a:endParaRPr lang="en-US" sz="1300" dirty="0"/>
          </a:p>
        </p:txBody>
      </p:sp>
      <p:sp>
        <p:nvSpPr>
          <p:cNvPr id="6" name="Text 1"/>
          <p:cNvSpPr/>
          <p:nvPr/>
        </p:nvSpPr>
        <p:spPr>
          <a:xfrm>
            <a:off x="54864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</a:t>
            </a:r>
            <a:endParaRPr lang="en-US" sz="1250" dirty="0"/>
          </a:p>
        </p:txBody>
      </p:sp>
      <p:sp>
        <p:nvSpPr>
          <p:cNvPr id="7" name="Text 2"/>
          <p:cNvSpPr/>
          <p:nvPr/>
        </p:nvSpPr>
        <p:spPr>
          <a:xfrm>
            <a:off x="548640" y="1353312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Why Ledgerely</a:t>
            </a:r>
            <a:endParaRPr lang="en-US" sz="3000" dirty="0"/>
          </a:p>
        </p:txBody>
      </p:sp>
      <p:sp>
        <p:nvSpPr>
          <p:cNvPr id="8" name="Text 3"/>
          <p:cNvSpPr/>
          <p:nvPr/>
        </p:nvSpPr>
        <p:spPr>
          <a:xfrm>
            <a:off x="548640" y="19659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reasons Ledgerely exists — helping people understand, manage, and grow their money with confidence.</a:t>
            </a:r>
            <a:endParaRPr lang="en-US" sz="1250" dirty="0"/>
          </a:p>
        </p:txBody>
      </p:sp>
      <p:sp>
        <p:nvSpPr>
          <p:cNvPr id="9" name="Shape 4"/>
          <p:cNvSpPr/>
          <p:nvPr/>
        </p:nvSpPr>
        <p:spPr>
          <a:xfrm>
            <a:off x="548640" y="260604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10" name="Shape 5"/>
          <p:cNvSpPr/>
          <p:nvPr/>
        </p:nvSpPr>
        <p:spPr>
          <a:xfrm>
            <a:off x="676656" y="268833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1" name="Image 3" descr="receipt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999" y="2778679"/>
            <a:ext cx="195743" cy="19574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35964" y="260604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where every penny goes</a:t>
            </a:r>
            <a:endParaRPr lang="en-US" sz="1150" dirty="0"/>
          </a:p>
        </p:txBody>
      </p:sp>
      <p:sp>
        <p:nvSpPr>
          <p:cNvPr id="13" name="Shape 7"/>
          <p:cNvSpPr/>
          <p:nvPr/>
        </p:nvSpPr>
        <p:spPr>
          <a:xfrm>
            <a:off x="548640" y="323850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14" name="Shape 8"/>
          <p:cNvSpPr/>
          <p:nvPr/>
        </p:nvSpPr>
        <p:spPr>
          <a:xfrm>
            <a:off x="676656" y="332079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5" name="Image 4" descr="goal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6999" y="3411139"/>
            <a:ext cx="195743" cy="19574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5964" y="323850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financial goals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548640" y="387096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18" name="Shape 11"/>
          <p:cNvSpPr/>
          <p:nvPr/>
        </p:nvSpPr>
        <p:spPr>
          <a:xfrm>
            <a:off x="676656" y="395325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9" name="Image 5" descr="chart_C2D8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999" y="4043599"/>
            <a:ext cx="195743" cy="195743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235964" y="387096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investments</a:t>
            </a:r>
            <a:endParaRPr lang="en-US" sz="1150" dirty="0"/>
          </a:p>
        </p:txBody>
      </p:sp>
      <p:sp>
        <p:nvSpPr>
          <p:cNvPr id="21" name="Shape 13"/>
          <p:cNvSpPr/>
          <p:nvPr/>
        </p:nvSpPr>
        <p:spPr>
          <a:xfrm>
            <a:off x="548640" y="450342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22" name="Shape 14"/>
          <p:cNvSpPr/>
          <p:nvPr/>
        </p:nvSpPr>
        <p:spPr>
          <a:xfrm>
            <a:off x="676656" y="458571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3" name="Image 6" descr="bank_C2D8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999" y="4676059"/>
            <a:ext cx="195743" cy="195743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235964" y="450342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loans / EMI's</a:t>
            </a:r>
            <a:endParaRPr lang="en-US" sz="1150" dirty="0"/>
          </a:p>
        </p:txBody>
      </p:sp>
      <p:sp>
        <p:nvSpPr>
          <p:cNvPr id="25" name="Shape 16"/>
          <p:cNvSpPr/>
          <p:nvPr/>
        </p:nvSpPr>
        <p:spPr>
          <a:xfrm>
            <a:off x="548640" y="513588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26" name="Shape 17"/>
          <p:cNvSpPr/>
          <p:nvPr/>
        </p:nvSpPr>
        <p:spPr>
          <a:xfrm>
            <a:off x="676656" y="521817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7" name="Image 7" descr="brain_C2D8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999" y="5308519"/>
            <a:ext cx="195743" cy="195743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1235964" y="513588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powered</a:t>
            </a:r>
            <a:endParaRPr lang="en-US" sz="1150" dirty="0"/>
          </a:p>
        </p:txBody>
      </p:sp>
      <p:sp>
        <p:nvSpPr>
          <p:cNvPr id="29" name="Shape 19"/>
          <p:cNvSpPr/>
          <p:nvPr/>
        </p:nvSpPr>
        <p:spPr>
          <a:xfrm>
            <a:off x="548640" y="576834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30" name="Shape 20"/>
          <p:cNvSpPr/>
          <p:nvPr/>
        </p:nvSpPr>
        <p:spPr>
          <a:xfrm>
            <a:off x="676656" y="585063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1" name="Image 8" descr="mobile_C2D82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6999" y="5940979"/>
            <a:ext cx="195743" cy="195743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1235964" y="576834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anywhere (any device)</a:t>
            </a:r>
            <a:endParaRPr lang="en-US" sz="1150" dirty="0"/>
          </a:p>
        </p:txBody>
      </p:sp>
      <p:sp>
        <p:nvSpPr>
          <p:cNvPr id="33" name="Shape 22"/>
          <p:cNvSpPr/>
          <p:nvPr/>
        </p:nvSpPr>
        <p:spPr>
          <a:xfrm>
            <a:off x="6172200" y="260604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34" name="Shape 23"/>
          <p:cNvSpPr/>
          <p:nvPr/>
        </p:nvSpPr>
        <p:spPr>
          <a:xfrm>
            <a:off x="6300216" y="268833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5" name="Image 9" descr="wifi_C2D82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90559" y="2778679"/>
            <a:ext cx="195743" cy="195743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6859524" y="260604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limited internet</a:t>
            </a:r>
            <a:endParaRPr lang="en-US" sz="1150" dirty="0"/>
          </a:p>
        </p:txBody>
      </p:sp>
      <p:sp>
        <p:nvSpPr>
          <p:cNvPr id="37" name="Shape 25"/>
          <p:cNvSpPr/>
          <p:nvPr/>
        </p:nvSpPr>
        <p:spPr>
          <a:xfrm>
            <a:off x="6172200" y="323850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38" name="Shape 26"/>
          <p:cNvSpPr/>
          <p:nvPr/>
        </p:nvSpPr>
        <p:spPr>
          <a:xfrm>
            <a:off x="6300216" y="332079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9" name="Image 10" descr="piggy_C2D82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90559" y="3411139"/>
            <a:ext cx="195743" cy="195743"/>
          </a:xfrm>
          <a:prstGeom prst="rect">
            <a:avLst/>
          </a:prstGeom>
        </p:spPr>
      </p:pic>
      <p:sp>
        <p:nvSpPr>
          <p:cNvPr id="40" name="Text 27"/>
          <p:cNvSpPr/>
          <p:nvPr/>
        </p:nvSpPr>
        <p:spPr>
          <a:xfrm>
            <a:off x="6859524" y="323850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financial domain in one place</a:t>
            </a:r>
            <a:endParaRPr lang="en-US" sz="1150" dirty="0"/>
          </a:p>
        </p:txBody>
      </p:sp>
      <p:sp>
        <p:nvSpPr>
          <p:cNvPr id="41" name="Shape 28"/>
          <p:cNvSpPr/>
          <p:nvPr/>
        </p:nvSpPr>
        <p:spPr>
          <a:xfrm>
            <a:off x="6172200" y="387096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42" name="Shape 29"/>
          <p:cNvSpPr/>
          <p:nvPr/>
        </p:nvSpPr>
        <p:spPr>
          <a:xfrm>
            <a:off x="6300216" y="395325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3" name="Image 11" descr="pie_C2D82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90559" y="4043599"/>
            <a:ext cx="195743" cy="195743"/>
          </a:xfrm>
          <a:prstGeom prst="rect">
            <a:avLst/>
          </a:prstGeom>
        </p:spPr>
      </p:pic>
      <p:sp>
        <p:nvSpPr>
          <p:cNvPr id="44" name="Text 30"/>
          <p:cNvSpPr/>
          <p:nvPr/>
        </p:nvSpPr>
        <p:spPr>
          <a:xfrm>
            <a:off x="6859524" y="387096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decisions</a:t>
            </a:r>
            <a:endParaRPr lang="en-US" sz="1150" dirty="0"/>
          </a:p>
        </p:txBody>
      </p:sp>
      <p:sp>
        <p:nvSpPr>
          <p:cNvPr id="45" name="Shape 31"/>
          <p:cNvSpPr/>
          <p:nvPr/>
        </p:nvSpPr>
        <p:spPr>
          <a:xfrm>
            <a:off x="6172200" y="450342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46" name="Shape 32"/>
          <p:cNvSpPr/>
          <p:nvPr/>
        </p:nvSpPr>
        <p:spPr>
          <a:xfrm>
            <a:off x="6300216" y="458571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7" name="Image 12" descr="clock_C2D82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90559" y="4676059"/>
            <a:ext cx="195743" cy="195743"/>
          </a:xfrm>
          <a:prstGeom prst="rect">
            <a:avLst/>
          </a:prstGeom>
        </p:spPr>
      </p:pic>
      <p:sp>
        <p:nvSpPr>
          <p:cNvPr id="48" name="Text 33"/>
          <p:cNvSpPr/>
          <p:nvPr/>
        </p:nvSpPr>
        <p:spPr>
          <a:xfrm>
            <a:off x="6859524" y="450342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future</a:t>
            </a:r>
            <a:endParaRPr lang="en-US" sz="1150" dirty="0"/>
          </a:p>
        </p:txBody>
      </p:sp>
      <p:sp>
        <p:nvSpPr>
          <p:cNvPr id="49" name="Shape 34"/>
          <p:cNvSpPr/>
          <p:nvPr/>
        </p:nvSpPr>
        <p:spPr>
          <a:xfrm>
            <a:off x="6172200" y="513588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50" name="Shape 35"/>
          <p:cNvSpPr/>
          <p:nvPr/>
        </p:nvSpPr>
        <p:spPr>
          <a:xfrm>
            <a:off x="6300216" y="521817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1" name="Image 13" descr="clock_C2D82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90559" y="5308519"/>
            <a:ext cx="195743" cy="195743"/>
          </a:xfrm>
          <a:prstGeom prst="rect">
            <a:avLst/>
          </a:prstGeom>
        </p:spPr>
      </p:pic>
      <p:sp>
        <p:nvSpPr>
          <p:cNvPr id="52" name="Text 36"/>
          <p:cNvSpPr/>
          <p:nvPr/>
        </p:nvSpPr>
        <p:spPr>
          <a:xfrm>
            <a:off x="6859524" y="513588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time</a:t>
            </a:r>
            <a:endParaRPr lang="en-US" sz="1150" dirty="0"/>
          </a:p>
        </p:txBody>
      </p:sp>
      <p:sp>
        <p:nvSpPr>
          <p:cNvPr id="53" name="Shape 37"/>
          <p:cNvSpPr/>
          <p:nvPr/>
        </p:nvSpPr>
        <p:spPr>
          <a:xfrm>
            <a:off x="6172200" y="576834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54" name="Shape 38"/>
          <p:cNvSpPr/>
          <p:nvPr/>
        </p:nvSpPr>
        <p:spPr>
          <a:xfrm>
            <a:off x="6300216" y="585063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5" name="Image 14" descr="check_C2D82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90559" y="5940979"/>
            <a:ext cx="195743" cy="195743"/>
          </a:xfrm>
          <a:prstGeom prst="rect">
            <a:avLst/>
          </a:prstGeom>
        </p:spPr>
      </p:pic>
      <p:sp>
        <p:nvSpPr>
          <p:cNvPr id="56" name="Text 39"/>
          <p:cNvSpPr/>
          <p:nvPr/>
        </p:nvSpPr>
        <p:spPr>
          <a:xfrm>
            <a:off x="6859524" y="576834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for all users</a:t>
            </a:r>
            <a:endParaRPr lang="en-US" sz="1150" dirty="0"/>
          </a:p>
        </p:txBody>
      </p:sp>
      <p:sp>
        <p:nvSpPr>
          <p:cNvPr id="57" name="Text 40"/>
          <p:cNvSpPr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FEATURES OVERVIEW</a:t>
            </a:r>
            <a:endParaRPr lang="en-US" sz="900" dirty="0"/>
          </a:p>
        </p:txBody>
      </p:sp>
      <p:sp>
        <p:nvSpPr>
          <p:cNvPr id="58" name="Text 41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ins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-720000">
            <a:off x="4815624" y="113142"/>
            <a:ext cx="2926080" cy="292608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3" name="Image 1" descr="coins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600000">
            <a:off x="-914400" y="-914400"/>
            <a:ext cx="2377440" cy="2377440"/>
          </a:xfrm>
          <a:prstGeom prst="rect">
            <a:avLst/>
          </a:prstGeom>
        </p:spPr>
      </p:pic>
      <p:pic>
        <p:nvPicPr>
          <p:cNvPr id="4" name="Image 2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1480"/>
            <a:ext cx="457200" cy="4572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097280" y="411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LEDGERELY</a:t>
            </a:r>
            <a:endParaRPr lang="en-US" sz="1300" dirty="0"/>
          </a:p>
        </p:txBody>
      </p:sp>
      <p:sp>
        <p:nvSpPr>
          <p:cNvPr id="6" name="Text 1"/>
          <p:cNvSpPr/>
          <p:nvPr/>
        </p:nvSpPr>
        <p:spPr>
          <a:xfrm>
            <a:off x="54864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</a:t>
            </a:r>
            <a:endParaRPr lang="en-US" sz="1250" dirty="0"/>
          </a:p>
        </p:txBody>
      </p:sp>
      <p:sp>
        <p:nvSpPr>
          <p:cNvPr id="7" name="Text 2"/>
          <p:cNvSpPr/>
          <p:nvPr/>
        </p:nvSpPr>
        <p:spPr>
          <a:xfrm>
            <a:off x="548640" y="1353312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Importance</a:t>
            </a:r>
            <a:endParaRPr lang="en-US" sz="3000" dirty="0"/>
          </a:p>
        </p:txBody>
      </p:sp>
      <p:sp>
        <p:nvSpPr>
          <p:cNvPr id="8" name="Text 3"/>
          <p:cNvSpPr/>
          <p:nvPr/>
        </p:nvSpPr>
        <p:spPr>
          <a:xfrm>
            <a:off x="548640" y="19659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Ledgerely matters day to day — the practical value it delivers for every user's financial life.</a:t>
            </a:r>
            <a:endParaRPr lang="en-US" sz="1250" dirty="0"/>
          </a:p>
        </p:txBody>
      </p:sp>
      <p:sp>
        <p:nvSpPr>
          <p:cNvPr id="9" name="Shape 4"/>
          <p:cNvSpPr/>
          <p:nvPr/>
        </p:nvSpPr>
        <p:spPr>
          <a:xfrm>
            <a:off x="548640" y="2606040"/>
            <a:ext cx="5303520" cy="667512"/>
          </a:xfrm>
          <a:prstGeom prst="roundRect">
            <a:avLst>
              <a:gd name="adj" fmla="val 9589"/>
            </a:avLst>
          </a:prstGeom>
          <a:solidFill>
            <a:srgbClr val="1F1F1F"/>
          </a:solidFill>
          <a:ln/>
        </p:spPr>
      </p:sp>
      <p:sp>
        <p:nvSpPr>
          <p:cNvPr id="10" name="Shape 5"/>
          <p:cNvSpPr/>
          <p:nvPr/>
        </p:nvSpPr>
        <p:spPr>
          <a:xfrm>
            <a:off x="676656" y="2729484"/>
            <a:ext cx="420624" cy="420624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1" name="Image 3" descr="eye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06" y="2830434"/>
            <a:ext cx="218724" cy="2187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80160" y="2606040"/>
            <a:ext cx="4434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financial visibility</a:t>
            </a:r>
            <a:endParaRPr lang="en-US" sz="1150" dirty="0"/>
          </a:p>
        </p:txBody>
      </p:sp>
      <p:sp>
        <p:nvSpPr>
          <p:cNvPr id="13" name="Shape 7"/>
          <p:cNvSpPr/>
          <p:nvPr/>
        </p:nvSpPr>
        <p:spPr>
          <a:xfrm>
            <a:off x="548640" y="3364992"/>
            <a:ext cx="5303520" cy="667512"/>
          </a:xfrm>
          <a:prstGeom prst="roundRect">
            <a:avLst>
              <a:gd name="adj" fmla="val 9589"/>
            </a:avLst>
          </a:prstGeom>
          <a:solidFill>
            <a:srgbClr val="1F1F1F"/>
          </a:solidFill>
          <a:ln/>
        </p:spPr>
      </p:sp>
      <p:sp>
        <p:nvSpPr>
          <p:cNvPr id="14" name="Shape 8"/>
          <p:cNvSpPr/>
          <p:nvPr/>
        </p:nvSpPr>
        <p:spPr>
          <a:xfrm>
            <a:off x="676656" y="3488436"/>
            <a:ext cx="420624" cy="420624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5" name="Image 4" descr="pie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606" y="3589386"/>
            <a:ext cx="218724" cy="21872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80160" y="3364992"/>
            <a:ext cx="4434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budgeting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548640" y="4123944"/>
            <a:ext cx="5303520" cy="667512"/>
          </a:xfrm>
          <a:prstGeom prst="roundRect">
            <a:avLst>
              <a:gd name="adj" fmla="val 9589"/>
            </a:avLst>
          </a:prstGeom>
          <a:solidFill>
            <a:srgbClr val="1F1F1F"/>
          </a:solidFill>
          <a:ln/>
        </p:spPr>
      </p:sp>
      <p:sp>
        <p:nvSpPr>
          <p:cNvPr id="18" name="Shape 11"/>
          <p:cNvSpPr/>
          <p:nvPr/>
        </p:nvSpPr>
        <p:spPr>
          <a:xfrm>
            <a:off x="676656" y="4247388"/>
            <a:ext cx="420624" cy="420624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9" name="Image 5" descr="goal_C2D8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606" y="4348338"/>
            <a:ext cx="218724" cy="218724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280160" y="4123944"/>
            <a:ext cx="4434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based financial planning</a:t>
            </a:r>
            <a:endParaRPr lang="en-US" sz="1150" dirty="0"/>
          </a:p>
        </p:txBody>
      </p:sp>
      <p:sp>
        <p:nvSpPr>
          <p:cNvPr id="21" name="Shape 13"/>
          <p:cNvSpPr/>
          <p:nvPr/>
        </p:nvSpPr>
        <p:spPr>
          <a:xfrm>
            <a:off x="548640" y="4882896"/>
            <a:ext cx="5303520" cy="667512"/>
          </a:xfrm>
          <a:prstGeom prst="roundRect">
            <a:avLst>
              <a:gd name="adj" fmla="val 9589"/>
            </a:avLst>
          </a:prstGeom>
          <a:solidFill>
            <a:srgbClr val="1F1F1F"/>
          </a:solidFill>
          <a:ln/>
        </p:spPr>
      </p:sp>
      <p:sp>
        <p:nvSpPr>
          <p:cNvPr id="22" name="Shape 14"/>
          <p:cNvSpPr/>
          <p:nvPr/>
        </p:nvSpPr>
        <p:spPr>
          <a:xfrm>
            <a:off x="676656" y="5006340"/>
            <a:ext cx="420624" cy="420624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3" name="Image 6" descr="card_C2D8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606" y="5107290"/>
            <a:ext cx="218724" cy="218724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280160" y="4882896"/>
            <a:ext cx="4434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management</a:t>
            </a:r>
            <a:endParaRPr lang="en-US" sz="1150" dirty="0"/>
          </a:p>
        </p:txBody>
      </p:sp>
      <p:sp>
        <p:nvSpPr>
          <p:cNvPr id="25" name="Shape 16"/>
          <p:cNvSpPr/>
          <p:nvPr/>
        </p:nvSpPr>
        <p:spPr>
          <a:xfrm>
            <a:off x="548640" y="5641848"/>
            <a:ext cx="5303520" cy="667512"/>
          </a:xfrm>
          <a:prstGeom prst="roundRect">
            <a:avLst>
              <a:gd name="adj" fmla="val 9589"/>
            </a:avLst>
          </a:prstGeom>
          <a:solidFill>
            <a:srgbClr val="1F1F1F"/>
          </a:solidFill>
          <a:ln/>
        </p:spPr>
      </p:sp>
      <p:sp>
        <p:nvSpPr>
          <p:cNvPr id="26" name="Shape 17"/>
          <p:cNvSpPr/>
          <p:nvPr/>
        </p:nvSpPr>
        <p:spPr>
          <a:xfrm>
            <a:off x="676656" y="5765292"/>
            <a:ext cx="420624" cy="420624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7" name="Image 7" descr="chart_C2D8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606" y="5866242"/>
            <a:ext cx="218724" cy="218724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1280160" y="5641848"/>
            <a:ext cx="4434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analysis</a:t>
            </a:r>
            <a:endParaRPr lang="en-US" sz="1150" dirty="0"/>
          </a:p>
        </p:txBody>
      </p:sp>
      <p:sp>
        <p:nvSpPr>
          <p:cNvPr id="29" name="Shape 19"/>
          <p:cNvSpPr/>
          <p:nvPr/>
        </p:nvSpPr>
        <p:spPr>
          <a:xfrm>
            <a:off x="6016752" y="2322576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30" name="Shape 20"/>
          <p:cNvSpPr/>
          <p:nvPr/>
        </p:nvSpPr>
        <p:spPr>
          <a:xfrm>
            <a:off x="6144768" y="2404872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1" name="Image 8" descr="receipt_C2D82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35372" y="2495476"/>
            <a:ext cx="196309" cy="196309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6705165" y="2322576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reports</a:t>
            </a:r>
            <a:endParaRPr lang="en-US" sz="1150" dirty="0"/>
          </a:p>
        </p:txBody>
      </p:sp>
      <p:sp>
        <p:nvSpPr>
          <p:cNvPr id="33" name="Shape 22"/>
          <p:cNvSpPr/>
          <p:nvPr/>
        </p:nvSpPr>
        <p:spPr>
          <a:xfrm>
            <a:off x="6016752" y="2956125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34" name="Shape 23"/>
          <p:cNvSpPr/>
          <p:nvPr/>
        </p:nvSpPr>
        <p:spPr>
          <a:xfrm>
            <a:off x="6144768" y="3038421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5" name="Image 9" descr="desktop_C2D82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35372" y="3129025"/>
            <a:ext cx="196309" cy="196309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6705165" y="2956125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access</a:t>
            </a:r>
            <a:endParaRPr lang="en-US" sz="1150" dirty="0"/>
          </a:p>
        </p:txBody>
      </p:sp>
      <p:sp>
        <p:nvSpPr>
          <p:cNvPr id="37" name="Shape 25"/>
          <p:cNvSpPr/>
          <p:nvPr/>
        </p:nvSpPr>
        <p:spPr>
          <a:xfrm>
            <a:off x="6016752" y="3589673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38" name="Shape 26"/>
          <p:cNvSpPr/>
          <p:nvPr/>
        </p:nvSpPr>
        <p:spPr>
          <a:xfrm>
            <a:off x="6144768" y="3671969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9" name="Image 10" descr="wifi_C2D82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35372" y="3762573"/>
            <a:ext cx="196309" cy="196309"/>
          </a:xfrm>
          <a:prstGeom prst="rect">
            <a:avLst/>
          </a:prstGeom>
        </p:spPr>
      </p:pic>
      <p:sp>
        <p:nvSpPr>
          <p:cNvPr id="40" name="Text 27"/>
          <p:cNvSpPr/>
          <p:nvPr/>
        </p:nvSpPr>
        <p:spPr>
          <a:xfrm>
            <a:off x="6705165" y="3589673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capability</a:t>
            </a:r>
            <a:endParaRPr lang="en-US" sz="1150" dirty="0"/>
          </a:p>
        </p:txBody>
      </p:sp>
      <p:sp>
        <p:nvSpPr>
          <p:cNvPr id="41" name="Shape 28"/>
          <p:cNvSpPr/>
          <p:nvPr/>
        </p:nvSpPr>
        <p:spPr>
          <a:xfrm>
            <a:off x="6016752" y="4223222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42" name="Shape 29"/>
          <p:cNvSpPr/>
          <p:nvPr/>
        </p:nvSpPr>
        <p:spPr>
          <a:xfrm>
            <a:off x="6144768" y="4305518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3" name="Image 11" descr="shield_C2D82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35372" y="4396122"/>
            <a:ext cx="196309" cy="196309"/>
          </a:xfrm>
          <a:prstGeom prst="rect">
            <a:avLst/>
          </a:prstGeom>
        </p:spPr>
      </p:pic>
      <p:sp>
        <p:nvSpPr>
          <p:cNvPr id="44" name="Text 30"/>
          <p:cNvSpPr/>
          <p:nvPr/>
        </p:nvSpPr>
        <p:spPr>
          <a:xfrm>
            <a:off x="6705165" y="4223222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security</a:t>
            </a:r>
            <a:endParaRPr lang="en-US" sz="1150" dirty="0"/>
          </a:p>
        </p:txBody>
      </p:sp>
      <p:sp>
        <p:nvSpPr>
          <p:cNvPr id="45" name="Shape 31"/>
          <p:cNvSpPr/>
          <p:nvPr/>
        </p:nvSpPr>
        <p:spPr>
          <a:xfrm>
            <a:off x="6016752" y="4856770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46" name="Shape 32"/>
          <p:cNvSpPr/>
          <p:nvPr/>
        </p:nvSpPr>
        <p:spPr>
          <a:xfrm>
            <a:off x="6144768" y="4939066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7" name="Image 12" descr="pie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5372" y="5029670"/>
            <a:ext cx="196309" cy="196309"/>
          </a:xfrm>
          <a:prstGeom prst="rect">
            <a:avLst/>
          </a:prstGeom>
        </p:spPr>
      </p:pic>
      <p:sp>
        <p:nvSpPr>
          <p:cNvPr id="48" name="Text 33"/>
          <p:cNvSpPr/>
          <p:nvPr/>
        </p:nvSpPr>
        <p:spPr>
          <a:xfrm>
            <a:off x="6705165" y="4856770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dashboard</a:t>
            </a:r>
            <a:endParaRPr lang="en-US" sz="1150" dirty="0"/>
          </a:p>
        </p:txBody>
      </p:sp>
      <p:sp>
        <p:nvSpPr>
          <p:cNvPr id="49" name="Shape 34"/>
          <p:cNvSpPr/>
          <p:nvPr/>
        </p:nvSpPr>
        <p:spPr>
          <a:xfrm>
            <a:off x="6016752" y="5490319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50" name="Shape 35"/>
          <p:cNvSpPr/>
          <p:nvPr/>
        </p:nvSpPr>
        <p:spPr>
          <a:xfrm>
            <a:off x="6144768" y="5572615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1" name="Image 13" descr="chart_C2D8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35372" y="5663219"/>
            <a:ext cx="196309" cy="196309"/>
          </a:xfrm>
          <a:prstGeom prst="rect">
            <a:avLst/>
          </a:prstGeom>
        </p:spPr>
      </p:pic>
      <p:sp>
        <p:nvSpPr>
          <p:cNvPr id="52" name="Text 36"/>
          <p:cNvSpPr/>
          <p:nvPr/>
        </p:nvSpPr>
        <p:spPr>
          <a:xfrm>
            <a:off x="6705165" y="5490319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decisions</a:t>
            </a:r>
            <a:endParaRPr lang="en-US" sz="1150" dirty="0"/>
          </a:p>
        </p:txBody>
      </p:sp>
      <p:sp>
        <p:nvSpPr>
          <p:cNvPr id="53" name="Shape 37"/>
          <p:cNvSpPr/>
          <p:nvPr/>
        </p:nvSpPr>
        <p:spPr>
          <a:xfrm>
            <a:off x="6016752" y="6123867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54" name="Shape 38"/>
          <p:cNvSpPr/>
          <p:nvPr/>
        </p:nvSpPr>
        <p:spPr>
          <a:xfrm>
            <a:off x="6144768" y="6206163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5" name="Image 14" descr="check_C2D82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35372" y="6296767"/>
            <a:ext cx="196309" cy="196309"/>
          </a:xfrm>
          <a:prstGeom prst="rect">
            <a:avLst/>
          </a:prstGeom>
        </p:spPr>
      </p:pic>
      <p:sp>
        <p:nvSpPr>
          <p:cNvPr id="56" name="Text 39"/>
          <p:cNvSpPr/>
          <p:nvPr/>
        </p:nvSpPr>
        <p:spPr>
          <a:xfrm>
            <a:off x="6705165" y="6123867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for all users</a:t>
            </a:r>
            <a:endParaRPr lang="en-US" sz="1150" dirty="0"/>
          </a:p>
        </p:txBody>
      </p:sp>
      <p:sp>
        <p:nvSpPr>
          <p:cNvPr id="57" name="Text 40"/>
          <p:cNvSpPr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FEATURES OVERVIEW</a:t>
            </a:r>
            <a:endParaRPr lang="en-US" sz="900" dirty="0"/>
          </a:p>
        </p:txBody>
      </p:sp>
      <p:sp>
        <p:nvSpPr>
          <p:cNvPr id="58" name="Text 41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pic>
        <p:nvPicPr>
          <p:cNvPr id="59" name="Image 0" descr="card_1A1A1A.png">
            <a:extLst>
              <a:ext uri="{FF2B5EF4-FFF2-40B4-BE49-F238E27FC236}">
                <a16:creationId xmlns:a16="http://schemas.microsoft.com/office/drawing/2014/main" id="{1C781675-14EA-25A7-7734-666B7F446A22}"/>
              </a:ext>
            </a:extLst>
          </p:cNvPr>
          <p:cNvPicPr>
            <a:picLocks noChangeAspect="1"/>
          </p:cNvPicPr>
          <p:nvPr/>
        </p:nvPicPr>
        <p:blipFill>
          <a:blip r:embed="rId15">
            <a:alphaModFix amt="10000"/>
          </a:blip>
          <a:stretch>
            <a:fillRect/>
          </a:stretch>
        </p:blipFill>
        <p:spPr>
          <a:xfrm rot="720000">
            <a:off x="9250345" y="274229"/>
            <a:ext cx="3108960" cy="310896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ney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600000">
            <a:off x="9345168" y="210312"/>
            <a:ext cx="2926080" cy="292608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4" name="Image 2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1480"/>
            <a:ext cx="457200" cy="4572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097280" y="411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LEDGERELY</a:t>
            </a:r>
            <a:endParaRPr lang="en-US" sz="1300" dirty="0"/>
          </a:p>
        </p:txBody>
      </p:sp>
      <p:sp>
        <p:nvSpPr>
          <p:cNvPr id="6" name="Text 1"/>
          <p:cNvSpPr/>
          <p:nvPr/>
        </p:nvSpPr>
        <p:spPr>
          <a:xfrm>
            <a:off x="54864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</a:t>
            </a:r>
            <a:endParaRPr lang="en-US" sz="1250" dirty="0"/>
          </a:p>
        </p:txBody>
      </p:sp>
      <p:sp>
        <p:nvSpPr>
          <p:cNvPr id="7" name="Text 2"/>
          <p:cNvSpPr/>
          <p:nvPr/>
        </p:nvSpPr>
        <p:spPr>
          <a:xfrm>
            <a:off x="548640" y="1353312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Features</a:t>
            </a:r>
            <a:endParaRPr lang="en-US" sz="3000" dirty="0"/>
          </a:p>
        </p:txBody>
      </p:sp>
      <p:sp>
        <p:nvSpPr>
          <p:cNvPr id="8" name="Text 3"/>
          <p:cNvSpPr/>
          <p:nvPr/>
        </p:nvSpPr>
        <p:spPr>
          <a:xfrm>
            <a:off x="548640" y="19659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is built as a Progressive Web App (PWA) — installable, fast, and fully functional even offline.</a:t>
            </a:r>
            <a:endParaRPr lang="en-US" sz="1250" dirty="0"/>
          </a:p>
        </p:txBody>
      </p:sp>
      <p:sp>
        <p:nvSpPr>
          <p:cNvPr id="9" name="Shape 4"/>
          <p:cNvSpPr/>
          <p:nvPr/>
        </p:nvSpPr>
        <p:spPr>
          <a:xfrm>
            <a:off x="548640" y="26060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10" name="Shape 5"/>
          <p:cNvSpPr/>
          <p:nvPr/>
        </p:nvSpPr>
        <p:spPr>
          <a:xfrm>
            <a:off x="749808" y="28072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1" name="Image 3" descr="mobile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2916936"/>
            <a:ext cx="237744" cy="23774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33832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PWA</a:t>
            </a:r>
            <a:endParaRPr lang="en-US" sz="1250" dirty="0"/>
          </a:p>
        </p:txBody>
      </p:sp>
      <p:sp>
        <p:nvSpPr>
          <p:cNvPr id="13" name="Text 7"/>
          <p:cNvSpPr/>
          <p:nvPr/>
        </p:nvSpPr>
        <p:spPr>
          <a:xfrm>
            <a:off x="731520" y="38404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Web App</a:t>
            </a:r>
            <a:endParaRPr lang="en-US" sz="950" dirty="0"/>
          </a:p>
        </p:txBody>
      </p:sp>
      <p:sp>
        <p:nvSpPr>
          <p:cNvPr id="14" name="Shape 8"/>
          <p:cNvSpPr/>
          <p:nvPr/>
        </p:nvSpPr>
        <p:spPr>
          <a:xfrm>
            <a:off x="2807208" y="26060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15" name="Shape 9"/>
          <p:cNvSpPr/>
          <p:nvPr/>
        </p:nvSpPr>
        <p:spPr>
          <a:xfrm>
            <a:off x="3008376" y="28072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6" name="Image 4" descr="desktop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8104" y="2916936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2990088" y="33832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Browser based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2990088" y="38404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https connection</a:t>
            </a:r>
            <a:endParaRPr lang="en-US" sz="950" dirty="0"/>
          </a:p>
        </p:txBody>
      </p:sp>
      <p:sp>
        <p:nvSpPr>
          <p:cNvPr id="19" name="Shape 12"/>
          <p:cNvSpPr/>
          <p:nvPr/>
        </p:nvSpPr>
        <p:spPr>
          <a:xfrm>
            <a:off x="5065776" y="26060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20" name="Shape 13"/>
          <p:cNvSpPr/>
          <p:nvPr/>
        </p:nvSpPr>
        <p:spPr>
          <a:xfrm>
            <a:off x="5266944" y="28072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1" name="Image 5" descr="wifi_C2D8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6672" y="2916936"/>
            <a:ext cx="237744" cy="237744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5248656" y="33832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Offline Support</a:t>
            </a:r>
            <a:endParaRPr lang="en-US" sz="1250" dirty="0"/>
          </a:p>
        </p:txBody>
      </p:sp>
      <p:sp>
        <p:nvSpPr>
          <p:cNvPr id="23" name="Text 15"/>
          <p:cNvSpPr/>
          <p:nvPr/>
        </p:nvSpPr>
        <p:spPr>
          <a:xfrm>
            <a:off x="5248656" y="38404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</a:t>
            </a:r>
            <a:r>
              <a:rPr lang="en-US" sz="95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IndexedDB + </a:t>
            </a: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7324344" y="26060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25" name="Shape 17"/>
          <p:cNvSpPr/>
          <p:nvPr/>
        </p:nvSpPr>
        <p:spPr>
          <a:xfrm>
            <a:off x="7525512" y="28072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6" name="Image 6" descr="bolt_C2D8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2916936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507224" y="33832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 Loading</a:t>
            </a:r>
            <a:endParaRPr lang="en-US" sz="1250" dirty="0"/>
          </a:p>
        </p:txBody>
      </p:sp>
      <p:sp>
        <p:nvSpPr>
          <p:cNvPr id="28" name="Text 19"/>
          <p:cNvSpPr/>
          <p:nvPr/>
        </p:nvSpPr>
        <p:spPr>
          <a:xfrm>
            <a:off x="7507224" y="38404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assets</a:t>
            </a:r>
            <a:endParaRPr lang="en-US" sz="950" dirty="0"/>
          </a:p>
        </p:txBody>
      </p:sp>
      <p:sp>
        <p:nvSpPr>
          <p:cNvPr id="29" name="Shape 20"/>
          <p:cNvSpPr/>
          <p:nvPr/>
        </p:nvSpPr>
        <p:spPr>
          <a:xfrm>
            <a:off x="9582912" y="26060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30" name="Shape 21"/>
          <p:cNvSpPr/>
          <p:nvPr/>
        </p:nvSpPr>
        <p:spPr>
          <a:xfrm>
            <a:off x="9784080" y="28072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1" name="Image 7" descr="desktop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3808" y="2916936"/>
            <a:ext cx="237744" cy="237744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9765792" y="33832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Responsive Design</a:t>
            </a:r>
            <a:endParaRPr lang="en-US" sz="1250" dirty="0"/>
          </a:p>
        </p:txBody>
      </p:sp>
      <p:sp>
        <p:nvSpPr>
          <p:cNvPr id="33" name="Text 23"/>
          <p:cNvSpPr/>
          <p:nvPr/>
        </p:nvSpPr>
        <p:spPr>
          <a:xfrm>
            <a:off x="9765792" y="38404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tool demo</a:t>
            </a:r>
            <a:endParaRPr lang="en-US" sz="950" dirty="0"/>
          </a:p>
        </p:txBody>
      </p:sp>
      <p:sp>
        <p:nvSpPr>
          <p:cNvPr id="34" name="Shape 24"/>
          <p:cNvSpPr/>
          <p:nvPr/>
        </p:nvSpPr>
        <p:spPr>
          <a:xfrm>
            <a:off x="548640" y="46634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35" name="Shape 25"/>
          <p:cNvSpPr/>
          <p:nvPr/>
        </p:nvSpPr>
        <p:spPr>
          <a:xfrm>
            <a:off x="749808" y="48646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6" name="Image 8" descr="lock_C2D8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4974336"/>
            <a:ext cx="237744" cy="23774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1520" y="5440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HTTPS Ready</a:t>
            </a:r>
            <a:endParaRPr lang="en-US" sz="1250" dirty="0"/>
          </a:p>
        </p:txBody>
      </p:sp>
      <p:sp>
        <p:nvSpPr>
          <p:cNvPr id="38" name="Text 27"/>
          <p:cNvSpPr/>
          <p:nvPr/>
        </p:nvSpPr>
        <p:spPr>
          <a:xfrm>
            <a:off x="731520" y="58978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default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2807208" y="46634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40" name="Shape 29"/>
          <p:cNvSpPr/>
          <p:nvPr/>
        </p:nvSpPr>
        <p:spPr>
          <a:xfrm>
            <a:off x="3008376" y="48646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1" name="Image 9" descr="mobile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8104" y="4974336"/>
            <a:ext cx="237744" cy="237744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2990088" y="5440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App-Like Experience</a:t>
            </a:r>
            <a:endParaRPr lang="en-US" sz="1250" dirty="0"/>
          </a:p>
        </p:txBody>
      </p:sp>
      <p:sp>
        <p:nvSpPr>
          <p:cNvPr id="43" name="Text 31"/>
          <p:cNvSpPr/>
          <p:nvPr/>
        </p:nvSpPr>
        <p:spPr>
          <a:xfrm>
            <a:off x="2990088" y="58978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browser portal</a:t>
            </a:r>
            <a:endParaRPr lang="en-US" sz="950" dirty="0"/>
          </a:p>
        </p:txBody>
      </p:sp>
      <p:sp>
        <p:nvSpPr>
          <p:cNvPr id="44" name="Shape 32"/>
          <p:cNvSpPr/>
          <p:nvPr/>
        </p:nvSpPr>
        <p:spPr>
          <a:xfrm>
            <a:off x="5065776" y="46634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45" name="Shape 33"/>
          <p:cNvSpPr/>
          <p:nvPr/>
        </p:nvSpPr>
        <p:spPr>
          <a:xfrm>
            <a:off x="5266944" y="48646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6" name="Image 10" descr="sync_C2D82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76672" y="4974336"/>
            <a:ext cx="237744" cy="237744"/>
          </a:xfrm>
          <a:prstGeom prst="rect">
            <a:avLst/>
          </a:prstGeom>
        </p:spPr>
      </p:pic>
      <p:sp>
        <p:nvSpPr>
          <p:cNvPr id="47" name="Text 34"/>
          <p:cNvSpPr/>
          <p:nvPr/>
        </p:nvSpPr>
        <p:spPr>
          <a:xfrm>
            <a:off x="5248656" y="5440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Automatic Updates</a:t>
            </a:r>
            <a:endParaRPr lang="en-US" sz="1250" dirty="0"/>
          </a:p>
        </p:txBody>
      </p:sp>
      <p:sp>
        <p:nvSpPr>
          <p:cNvPr id="48" name="Text 35"/>
          <p:cNvSpPr/>
          <p:nvPr/>
        </p:nvSpPr>
        <p:spPr>
          <a:xfrm>
            <a:off x="5248656" y="58978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update notification</a:t>
            </a:r>
            <a:endParaRPr lang="en-US" sz="950" dirty="0"/>
          </a:p>
        </p:txBody>
      </p:sp>
      <p:sp>
        <p:nvSpPr>
          <p:cNvPr id="49" name="Shape 36"/>
          <p:cNvSpPr/>
          <p:nvPr/>
        </p:nvSpPr>
        <p:spPr>
          <a:xfrm>
            <a:off x="7324344" y="46634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50" name="Shape 37"/>
          <p:cNvSpPr/>
          <p:nvPr/>
        </p:nvSpPr>
        <p:spPr>
          <a:xfrm>
            <a:off x="7525512" y="48646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1" name="Image 11" descr="cloud_C2D82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35240" y="4974336"/>
            <a:ext cx="237744" cy="237744"/>
          </a:xfrm>
          <a:prstGeom prst="rect">
            <a:avLst/>
          </a:prstGeom>
        </p:spPr>
      </p:pic>
      <p:sp>
        <p:nvSpPr>
          <p:cNvPr id="52" name="Text 38"/>
          <p:cNvSpPr/>
          <p:nvPr/>
        </p:nvSpPr>
        <p:spPr>
          <a:xfrm>
            <a:off x="7507224" y="5440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Background Sync</a:t>
            </a:r>
            <a:endParaRPr lang="en-US" sz="1250" dirty="0"/>
          </a:p>
        </p:txBody>
      </p:sp>
      <p:sp>
        <p:nvSpPr>
          <p:cNvPr id="53" name="Text 39"/>
          <p:cNvSpPr/>
          <p:nvPr/>
        </p:nvSpPr>
        <p:spPr>
          <a:xfrm>
            <a:off x="7507224" y="58978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queue while offline</a:t>
            </a:r>
            <a:endParaRPr lang="en-US" sz="950" dirty="0"/>
          </a:p>
        </p:txBody>
      </p:sp>
      <p:sp>
        <p:nvSpPr>
          <p:cNvPr id="54" name="Shape 40"/>
          <p:cNvSpPr/>
          <p:nvPr/>
        </p:nvSpPr>
        <p:spPr>
          <a:xfrm>
            <a:off x="9582912" y="46634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55" name="Shape 41"/>
          <p:cNvSpPr/>
          <p:nvPr/>
        </p:nvSpPr>
        <p:spPr>
          <a:xfrm>
            <a:off x="9784080" y="48646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6" name="Image 12" descr="home_C2D82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93808" y="4974336"/>
            <a:ext cx="237744" cy="237744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765792" y="5440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Home Screen</a:t>
            </a:r>
            <a:endParaRPr lang="en-US" sz="1250" dirty="0"/>
          </a:p>
        </p:txBody>
      </p:sp>
      <p:sp>
        <p:nvSpPr>
          <p:cNvPr id="58" name="Text 43"/>
          <p:cNvSpPr/>
          <p:nvPr/>
        </p:nvSpPr>
        <p:spPr>
          <a:xfrm>
            <a:off x="9765792" y="58978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like a native app</a:t>
            </a:r>
            <a:endParaRPr lang="en-US" sz="950" dirty="0"/>
          </a:p>
        </p:txBody>
      </p:sp>
      <p:sp>
        <p:nvSpPr>
          <p:cNvPr id="59" name="Text 44"/>
          <p:cNvSpPr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FEATURES OVERVIEW</a:t>
            </a:r>
            <a:endParaRPr lang="en-US" sz="900" dirty="0"/>
          </a:p>
        </p:txBody>
      </p:sp>
      <p:sp>
        <p:nvSpPr>
          <p:cNvPr id="60" name="Text 45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LEDGERELY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772400" cy="731520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Smarter Way to Track Money</a:t>
            </a:r>
            <a:endParaRPr lang="en-US" sz="3000" dirty="0">
              <a:solidFill>
                <a:srgbClr val="C2D82E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035040" cy="1188720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is an AI-powered personal finance app that connects bank accounts and cards, categorizes spending automatically, and matches users with financial goals tailored to their habits.</a:t>
            </a:r>
            <a:endParaRPr lang="en-US" sz="1350" dirty="0">
              <a:solidFill>
                <a:schemeClr val="bg2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3291840" cy="2834640"/>
          </a:xfrm>
          <a:prstGeom prst="roundRect">
            <a:avLst>
              <a:gd name="adj" fmla="val 3871"/>
            </a:avLst>
          </a:prstGeom>
          <a:solidFill>
            <a:srgbClr val="F7F8EE"/>
          </a:solidFill>
          <a:ln/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3383280"/>
            <a:ext cx="685800" cy="68580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7" name="Image 0" descr="bank_C2D8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649224" cy="6492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42519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Connect Accounts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466344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Securely setup </a:t>
            </a: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cards in minutes.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160520" y="3063240"/>
            <a:ext cx="3291840" cy="2834640"/>
          </a:xfrm>
          <a:prstGeom prst="roundRect">
            <a:avLst>
              <a:gd name="adj" fmla="val 3871"/>
            </a:avLst>
          </a:prstGeom>
          <a:solidFill>
            <a:srgbClr val="F7F8EE"/>
          </a:solidFill>
          <a:ln/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0560" y="3383280"/>
            <a:ext cx="685800" cy="68580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2" name="Image 1" descr="robot_C2D8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3557016"/>
            <a:ext cx="685800" cy="6858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80560" y="42519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 Matching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480560" y="466344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suggestions matched to real spending habits.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772400" y="3063240"/>
            <a:ext cx="3291840" cy="2834640"/>
          </a:xfrm>
          <a:prstGeom prst="roundRect">
            <a:avLst>
              <a:gd name="adj" fmla="val 3871"/>
            </a:avLst>
          </a:prstGeom>
          <a:solidFill>
            <a:srgbClr val="F7F8EE"/>
          </a:solidFill>
          <a:ln/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92440" y="3383280"/>
            <a:ext cx="685800" cy="68580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7" name="Image 2" descr="goal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6175" y="3557015"/>
            <a:ext cx="685799" cy="68579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092440" y="42519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Set Plans &amp; Goals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092440" y="466344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savings and budget goals that adapt over time.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pic>
        <p:nvPicPr>
          <p:cNvPr id="22" name="Image 0" descr="money_1A1A1A.png">
            <a:extLst>
              <a:ext uri="{FF2B5EF4-FFF2-40B4-BE49-F238E27FC236}">
                <a16:creationId xmlns:a16="http://schemas.microsoft.com/office/drawing/2014/main" id="{3A2F0A56-1EC5-FE32-6EC4-3AC03D10480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10000"/>
          </a:blip>
          <a:stretch>
            <a:fillRect/>
          </a:stretch>
        </p:blipFill>
        <p:spPr>
          <a:xfrm rot="600000">
            <a:off x="9183801" y="271092"/>
            <a:ext cx="2926080" cy="292608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bile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600000">
            <a:off x="9692640" y="-914400"/>
            <a:ext cx="3108960" cy="3108960"/>
          </a:xfrm>
          <a:prstGeom prst="rect">
            <a:avLst/>
          </a:prstGeom>
        </p:spPr>
      </p:pic>
      <p:pic>
        <p:nvPicPr>
          <p:cNvPr id="3" name="Image 1" descr="mobile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-720000">
            <a:off x="-1005840" y="4572000"/>
            <a:ext cx="2743200" cy="27432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548640" y="77724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Setting Up a New Account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548640" y="187452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F1F1F"/>
          </a:solidFill>
          <a:ln/>
        </p:spPr>
      </p:sp>
      <p:sp>
        <p:nvSpPr>
          <p:cNvPr id="7" name="Text 3"/>
          <p:cNvSpPr/>
          <p:nvPr/>
        </p:nvSpPr>
        <p:spPr>
          <a:xfrm>
            <a:off x="822960" y="187452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4"/>
          <p:cNvSpPr/>
          <p:nvPr/>
        </p:nvSpPr>
        <p:spPr>
          <a:xfrm>
            <a:off x="1920240" y="2164079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Sign </a:t>
            </a:r>
            <a:r>
              <a:rPr lang="en-US" sz="14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Up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120640" y="1984248"/>
            <a:ext cx="580644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 </a:t>
            </a: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</a:t>
            </a:r>
            <a:r>
              <a:rPr lang="en-US" sz="115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Google, </a:t>
            </a: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create an account with an email address.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48640" y="306324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F1F1F"/>
          </a:solidFill>
          <a:ln/>
        </p:spPr>
      </p:sp>
      <p:sp>
        <p:nvSpPr>
          <p:cNvPr id="11" name="Text 7"/>
          <p:cNvSpPr/>
          <p:nvPr/>
        </p:nvSpPr>
        <p:spPr>
          <a:xfrm>
            <a:off x="822960" y="306324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1920240" y="3352803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Verify Identity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120640" y="3172968"/>
            <a:ext cx="580644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email and set a secure password to protect financial data.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425196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F1F1F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25196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1920240" y="4530637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Connect a Bank or Card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120640" y="4361688"/>
            <a:ext cx="580644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</a:t>
            </a:r>
            <a:r>
              <a:rPr lang="en-US" sz="115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setup </a:t>
            </a: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</a:t>
            </a:r>
            <a:r>
              <a:rPr lang="en-US" sz="115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configure </a:t>
            </a: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checking account or credit card.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48640" y="544068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F1F1F"/>
          </a:solidFill>
          <a:ln/>
        </p:spPr>
      </p:sp>
      <p:sp>
        <p:nvSpPr>
          <p:cNvPr id="19" name="Text 15"/>
          <p:cNvSpPr/>
          <p:nvPr/>
        </p:nvSpPr>
        <p:spPr>
          <a:xfrm>
            <a:off x="822960" y="544068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1920240" y="5719356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Bookman Old Style" pitchFamily="34" charset="0"/>
              </a:rPr>
              <a:t>Start exploring dashboards, workbooks, sheets and reports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5120640" y="5550408"/>
            <a:ext cx="580644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Customize your own UI with charts, shapes, colors and size options, sheets and workbooks.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Tutors Should Know First</a:t>
            </a:r>
            <a:endParaRPr lang="en-US" sz="3000" dirty="0">
              <a:solidFill>
                <a:srgbClr val="C2D82E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12080" cy="2103120"/>
          </a:xfrm>
          <a:prstGeom prst="roundRect">
            <a:avLst>
              <a:gd name="adj" fmla="val 4348"/>
            </a:avLst>
          </a:prstGeom>
          <a:solidFill>
            <a:srgbClr val="F7F8EE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594360" cy="59436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6" name="Image 0" descr="pie_C2D8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112264"/>
            <a:ext cx="630936" cy="6309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6596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Spending Dashboard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65176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breakdown of spending by category, updated automatically from linked accounts.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035040" y="1691640"/>
            <a:ext cx="5212080" cy="2103120"/>
          </a:xfrm>
          <a:prstGeom prst="roundRect">
            <a:avLst>
              <a:gd name="adj" fmla="val 4348"/>
            </a:avLst>
          </a:prstGeom>
          <a:solidFill>
            <a:srgbClr val="F7F8EE"/>
          </a:solidFill>
          <a:ln/>
        </p:spPr>
      </p:sp>
      <p:sp>
        <p:nvSpPr>
          <p:cNvPr id="10" name="Shape 7"/>
          <p:cNvSpPr/>
          <p:nvPr/>
        </p:nvSpPr>
        <p:spPr>
          <a:xfrm>
            <a:off x="6309360" y="1965960"/>
            <a:ext cx="594360" cy="59436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1" name="Image 1" descr="receipt_C2D8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112264"/>
            <a:ext cx="594360" cy="5943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86600" y="196596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Transaction Ledger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309360" y="265176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transaction is logged and searchable, with manual entries supported too.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4069080"/>
            <a:ext cx="5212080" cy="2103120"/>
          </a:xfrm>
          <a:prstGeom prst="roundRect">
            <a:avLst>
              <a:gd name="adj" fmla="val 4348"/>
            </a:avLst>
          </a:prstGeom>
          <a:solidFill>
            <a:srgbClr val="F7F8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343400"/>
            <a:ext cx="594360" cy="59436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6" name="Image 2" descr="goal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" y="4489704"/>
            <a:ext cx="594360" cy="5943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434340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Goal Matching and reporting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22960" y="502920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recommends realistic savings and debt goals based on real cash-flow patterns.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035040" y="4069080"/>
            <a:ext cx="5212080" cy="2103120"/>
          </a:xfrm>
          <a:prstGeom prst="roundRect">
            <a:avLst>
              <a:gd name="adj" fmla="val 4348"/>
            </a:avLst>
          </a:prstGeom>
          <a:solidFill>
            <a:srgbClr val="F7F8EE"/>
          </a:solidFill>
          <a:ln/>
        </p:spPr>
      </p:sp>
      <p:sp>
        <p:nvSpPr>
          <p:cNvPr id="20" name="Shape 15"/>
          <p:cNvSpPr/>
          <p:nvPr/>
        </p:nvSpPr>
        <p:spPr>
          <a:xfrm>
            <a:off x="6309360" y="4343400"/>
            <a:ext cx="594360" cy="59436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21" name="Image 3" descr="shield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489704"/>
            <a:ext cx="594360" cy="5943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86600" y="434340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Security &amp; Privacy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309360" y="502920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</a:t>
            </a: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and read-only account access keep data protected.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kern="0" spc="2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SHOPPING</a:t>
            </a:r>
            <a:endParaRPr lang="en-US" sz="3200" dirty="0">
              <a:solidFill>
                <a:srgbClr val="C2D82E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Logging a Transaction Manually</a:t>
            </a:r>
            <a:endParaRPr lang="en-US" sz="3000" dirty="0">
              <a:solidFill>
                <a:srgbClr val="C2D82E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Steps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10896" cy="310896"/>
          </a:xfrm>
          <a:prstGeom prst="ellipse">
            <a:avLst/>
          </a:prstGeom>
          <a:solidFill>
            <a:srgbClr val="C2D82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093976"/>
            <a:ext cx="4937760" cy="457200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</a:t>
            </a:r>
            <a:r>
              <a:rPr lang="en-US" sz="12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app from https://Ledgerely.com/app/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70632"/>
            <a:ext cx="310896" cy="310896"/>
          </a:xfrm>
          <a:prstGeom prst="ellipse">
            <a:avLst/>
          </a:prstGeom>
          <a:solidFill>
            <a:srgbClr val="C2D82E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7063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7157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money planner option and select fast shopping.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392424"/>
            <a:ext cx="310896" cy="310896"/>
          </a:xfrm>
          <a:prstGeom prst="ellipse">
            <a:avLst/>
          </a:prstGeom>
          <a:solidFill>
            <a:srgbClr val="C2D82E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9242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3375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amount</a:t>
            </a:r>
            <a:r>
              <a:rPr lang="en-US" sz="12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transaction and 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4014216"/>
            <a:ext cx="310896" cy="310896"/>
          </a:xfrm>
          <a:prstGeom prst="ellipse">
            <a:avLst/>
          </a:prstGeom>
          <a:solidFill>
            <a:srgbClr val="C2D82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0142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395935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chemeClr val="bg1"/>
                </a:solidFill>
              </a:rPr>
              <a:t>Select bank account or credit card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4636008"/>
            <a:ext cx="310896" cy="310896"/>
          </a:xfrm>
          <a:prstGeom prst="ellipse">
            <a:avLst/>
          </a:prstGeom>
          <a:solidFill>
            <a:srgbClr val="C2D82E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6360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4581144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Submit to push transaction to data base.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83680" y="1691640"/>
            <a:ext cx="5029200" cy="4480560"/>
          </a:xfrm>
          <a:prstGeom prst="roundRect">
            <a:avLst>
              <a:gd name="adj" fmla="val 3673"/>
            </a:avLst>
          </a:prstGeom>
          <a:solidFill>
            <a:srgbClr val="0A0A0A"/>
          </a:solidFill>
          <a:ln/>
          <a:effectLst>
            <a:outerShdw blurRad="101600" dist="38100" dir="5400000" algn="bl" rotWithShape="0">
              <a:srgbClr val="888888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949440" y="201168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TRANSACTION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49440" y="242316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400">
                <a:solidFill>
                  <a:schemeClr val="bg1"/>
                </a:solidFill>
              </a:rPr>
              <a:t>₹</a:t>
            </a:r>
            <a:r>
              <a:rPr lang="en-US" sz="4000" b="1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42.50</a:t>
            </a:r>
            <a:endParaRPr lang="en-US" sz="4000" dirty="0"/>
          </a:p>
        </p:txBody>
      </p:sp>
      <p:sp>
        <p:nvSpPr>
          <p:cNvPr id="23" name="Shape 21"/>
          <p:cNvSpPr/>
          <p:nvPr/>
        </p:nvSpPr>
        <p:spPr>
          <a:xfrm>
            <a:off x="6949440" y="3315789"/>
            <a:ext cx="4297680" cy="548640"/>
          </a:xfrm>
          <a:prstGeom prst="roundRect">
            <a:avLst>
              <a:gd name="adj" fmla="val 13333"/>
            </a:avLst>
          </a:prstGeom>
          <a:solidFill>
            <a:srgbClr val="1F1F1F"/>
          </a:solidFill>
          <a:ln/>
        </p:spPr>
      </p:sp>
      <p:sp>
        <p:nvSpPr>
          <p:cNvPr id="24" name="Text 22"/>
          <p:cNvSpPr/>
          <p:nvPr/>
        </p:nvSpPr>
        <p:spPr>
          <a:xfrm>
            <a:off x="7178040" y="3370653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178040" y="3553533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 Market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949440" y="4001589"/>
            <a:ext cx="4297680" cy="548640"/>
          </a:xfrm>
          <a:prstGeom prst="roundRect">
            <a:avLst>
              <a:gd name="adj" fmla="val 13333"/>
            </a:avLst>
          </a:prstGeom>
          <a:solidFill>
            <a:srgbClr val="1F1F1F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4056453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178040" y="4239333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Groceries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949440" y="4687389"/>
            <a:ext cx="4297680" cy="548640"/>
          </a:xfrm>
          <a:prstGeom prst="roundRect">
            <a:avLst>
              <a:gd name="adj" fmla="val 13333"/>
            </a:avLst>
          </a:prstGeom>
          <a:solidFill>
            <a:srgbClr val="1F1F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178040" y="4742253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178040" y="4925133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2025/01/01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949440" y="5394960"/>
            <a:ext cx="4297680" cy="502920"/>
          </a:xfrm>
          <a:prstGeom prst="roundRect">
            <a:avLst>
              <a:gd name="adj" fmla="val 50909"/>
            </a:avLst>
          </a:prstGeom>
          <a:solidFill>
            <a:srgbClr val="C2D82E"/>
          </a:solidFill>
          <a:ln/>
        </p:spPr>
      </p:sp>
      <p:sp>
        <p:nvSpPr>
          <p:cNvPr id="33" name="Text 31"/>
          <p:cNvSpPr/>
          <p:nvPr/>
        </p:nvSpPr>
        <p:spPr>
          <a:xfrm>
            <a:off x="6949440" y="539496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TRANSACTION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4891852" cy="707886"/>
          </a:xfrm>
          <a:prstGeom prst="rect">
            <a:avLst/>
          </a:prstGeom>
          <a:solidFill>
            <a:schemeClr val="tx1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2D82E"/>
                </a:solidFill>
              </a:defRPr>
            </a:pPr>
            <a:r>
              <a:rPr dirty="0"/>
              <a:t>Ledgerely Workbook - Tutor Guide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dirty="0">
                <a:solidFill>
                  <a:srgbClr val="C2D82E"/>
                </a:solidFill>
              </a:rPr>
              <a:t>AI-</a:t>
            </a:r>
            <a:r>
              <a:rPr dirty="0" err="1">
                <a:solidFill>
                  <a:srgbClr val="C2D82E"/>
                </a:solidFill>
              </a:rPr>
              <a:t>Mathed</a:t>
            </a:r>
            <a:r>
              <a:rPr dirty="0">
                <a:solidFill>
                  <a:srgbClr val="C2D82E"/>
                </a:solidFill>
              </a:rPr>
              <a:t>. Simplify Your Financial Goals.</a:t>
            </a:r>
          </a:p>
        </p:txBody>
      </p:sp>
      <p:pic>
        <p:nvPicPr>
          <p:cNvPr id="3" name="Picture 2" descr="Screenshot 2026-07-20 at 8.02.37 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19" y="1261872"/>
            <a:ext cx="8841287" cy="45415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9259824" y="1286256"/>
            <a:ext cx="2718816" cy="4419600"/>
          </a:xfrm>
          <a:prstGeom prst="roundRect">
            <a:avLst/>
          </a:prstGeom>
          <a:solidFill>
            <a:srgbClr val="2D3134"/>
          </a:solidFill>
          <a:ln>
            <a:solidFill>
              <a:srgbClr val="C2D8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C2D82E"/>
                </a:solidFill>
              </a:defRPr>
            </a:pPr>
            <a:r>
              <a:rPr dirty="0"/>
              <a:t>Workbook Features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Unlimited workbook sheets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Add shapes, tables &amp; charts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Dynamic data sources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Custom SQL queries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Auto Save enabled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Save to server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Export to PNG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Suitable for banking, money, savings &amp; investments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And much more...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TIPS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Best practices for Users</a:t>
            </a:r>
            <a:endParaRPr lang="en-US" sz="3000" dirty="0">
              <a:solidFill>
                <a:srgbClr val="C2D82E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4767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6" name="Image 0" descr="lock_C2D8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2084832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60604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Lead with security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4672" y="297180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ensured 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read-only, </a:t>
            </a:r>
            <a:r>
              <a:rPr lang="en-US" sz="10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connections 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linking accounts.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06240" y="169164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10" name="Shape 7"/>
          <p:cNvSpPr/>
          <p:nvPr/>
        </p:nvSpPr>
        <p:spPr>
          <a:xfrm>
            <a:off x="4462272" y="194767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1" name="Image 1" descr="mobile_C2D8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432" y="2084832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62272" y="260604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Demo on your device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462272" y="297180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the real app </a:t>
            </a:r>
            <a:r>
              <a:rPr lang="en-US" sz="10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desktop 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</a:t>
            </a:r>
            <a:r>
              <a:rPr lang="en-US" sz="10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exploring it abstractedly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863840" y="169164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119872" y="194767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6" name="Image 2" descr="goal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2084832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119872" y="260604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Start with one goal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119872" y="297180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picking a single AI-suggested goal first instead </a:t>
            </a:r>
            <a:r>
              <a:rPr lang="en-US" sz="10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creating samples.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40690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20" name="Shape 15"/>
          <p:cNvSpPr/>
          <p:nvPr/>
        </p:nvSpPr>
        <p:spPr>
          <a:xfrm>
            <a:off x="804672" y="432511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21" name="Image 3" descr="chart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" y="4462272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04672" y="498348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Revisit weekly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04672" y="534924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a short weekly check-in to review the dashboard and goal progress.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06240" y="40690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25" name="Shape 19"/>
          <p:cNvSpPr/>
          <p:nvPr/>
        </p:nvSpPr>
        <p:spPr>
          <a:xfrm>
            <a:off x="4462272" y="432511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26" name="Image 4" descr="receipt_C2D8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432" y="4462272"/>
            <a:ext cx="548640" cy="5486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462272" y="498348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Practice manual entry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462272" y="534924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manual transaction so cash purchases aren't missed.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7863840" y="40690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30" name="Shape 23"/>
          <p:cNvSpPr/>
          <p:nvPr/>
        </p:nvSpPr>
        <p:spPr>
          <a:xfrm>
            <a:off x="8119872" y="432511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31" name="Image 5" descr="shield_C2D8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57032" y="4462272"/>
            <a:ext cx="548640" cy="5486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119872" y="498348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Cover the basics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8119872" y="534924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where to start with handling transactions and manage connected accounts.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rd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-720000">
            <a:off x="8731716" y="4441239"/>
            <a:ext cx="3017520" cy="301752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3" name="Image 1" descr="card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600000">
            <a:off x="681782" y="2791302"/>
            <a:ext cx="2834640" cy="283464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4" name="Image 2" descr="bank_1A1A1A.png"/>
          <p:cNvPicPr>
            <a:picLocks noChangeAspect="1"/>
          </p:cNvPicPr>
          <p:nvPr/>
        </p:nvPicPr>
        <p:blipFill>
          <a:blip r:embed="rId4">
            <a:alphaModFix amt="10000"/>
          </a:blip>
          <a:stretch>
            <a:fillRect/>
          </a:stretch>
        </p:blipFill>
        <p:spPr>
          <a:xfrm>
            <a:off x="9738360" y="182880"/>
            <a:ext cx="2011680" cy="201168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5" name="Image 3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5544" y="1737360"/>
            <a:ext cx="1005840" cy="100584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3337560" y="288036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kern="0" spc="3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LEDGERELY</a:t>
            </a:r>
            <a:endParaRPr lang="en-US" sz="2400" dirty="0"/>
          </a:p>
        </p:txBody>
      </p:sp>
      <p:sp>
        <p:nvSpPr>
          <p:cNvPr id="7" name="Text 1"/>
          <p:cNvSpPr/>
          <p:nvPr/>
        </p:nvSpPr>
        <p:spPr>
          <a:xfrm>
            <a:off x="2423160" y="3520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AI-Mathed</a:t>
            </a:r>
            <a:r>
              <a:rPr lang="en-US" sz="1500" i="1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Simplify Your Financial Goals.</a:t>
            </a:r>
            <a:endParaRPr lang="en-US" sz="1500" dirty="0"/>
          </a:p>
        </p:txBody>
      </p:sp>
      <p:sp>
        <p:nvSpPr>
          <p:cNvPr id="8" name="Text 2"/>
          <p:cNvSpPr/>
          <p:nvPr/>
        </p:nvSpPr>
        <p:spPr>
          <a:xfrm>
            <a:off x="2340864" y="3798777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9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</a:t>
            </a:r>
            <a:r>
              <a:rPr lang="en-US" sz="1300">
                <a:solidFill>
                  <a:srgbClr val="B9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onboard?</a:t>
            </a:r>
            <a:endParaRPr lang="en-US" sz="1300" dirty="0"/>
          </a:p>
        </p:txBody>
      </p:sp>
      <p:sp>
        <p:nvSpPr>
          <p:cNvPr id="9" name="Text 3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10" name="Text 4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3545</TotalTime>
  <Words>1493</Words>
  <Application>Microsoft Macintosh PowerPoint</Application>
  <PresentationFormat>Widescreen</PresentationFormat>
  <Paragraphs>292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Bookman Old Style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Bharani Palani</dc:creator>
  <cp:lastModifiedBy>Bharani Palani</cp:lastModifiedBy>
  <cp:revision>44</cp:revision>
  <dcterms:created xsi:type="dcterms:W3CDTF">2026-07-17T16:54:55Z</dcterms:created>
  <dcterms:modified xsi:type="dcterms:W3CDTF">2026-08-28T19:30:53Z</dcterms:modified>
</cp:coreProperties>
</file>